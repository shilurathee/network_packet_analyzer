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for CPI is called Network Traffic Analysis and Hybrid Intrusion Detection. An Intrusion Detection System, or IDS, is simply a tool that watches network traffic and raises an alert when something looks like an attack. I want to be clear right at the start that we are in the Objectives phase of the subject, so I am not presenting a finished product today. What I will cover is the problem we identified, the direction we are proposing to solve it, and most importantly the three specific objectives we plan to reach and the exact number we will use to check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device on a network constantly sends and receives small chunks of data called packets. Even on a small network that adds up to millions of packets very quickly. The difficulty is that an attack — for example, someone scanning our machine to see which doors are open — is only a handful of packets sitting inside all of that normal traffic. A human analyst cannot open a packet capture file, that is a PCAP or Packet Capture, and read through millions of rows one by one. So important warning signs are either missed or noticed far too late. The analogy we like is this: doing it by hand is like searching for a few suspicious letters inside an entire city's mail. The individual letter is not hard to understand — finding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direction we are proposing. Traffic comes in either as a saved PCAP file or as live capture. A parser pulls out the useful header fields — who sent the packet, to whom, which protocol, how big it was. Then a detection stage checks those records against rules. Anything flagged gets mapped to MITRE ATT&amp;CK — that stands for MITRE Adversarial Tactics, Techniques and Common Knowledge, which is the industry-standard catalogue of attacker behaviours — and then enriched with outside information about the IP address, IP meaning Internet Protocol. Everything is finally shown on a dashboard. Notice the last box: a human still makes the decision. That is deliberate. We are not trying to replace the analyst, only to shrink what they have to look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objective is the detection pipeline itself. We aim to take raw traffic and automatically identify six well-known suspicious behaviours. Port scanning is someone knocking on many doors to see which are open. SYN flooding — SYN is the first message of a TCP, Transmission Control Protocol, connection — means opening thousands of half-finished connections to exhaust a server. ARP spoofing, ARP being Address Resolution Protocol, is a device lying about its identity on the local network. DNS tunneling, DNS meaning Domain Name System, hides data inside ordinary-looking name lookups. ICMP flooding, ICMP being Internet Control Message Protocol, is ping traffic used to overwhelm a target. And malformed flag combinations are packets deliberately built in invalid ways to slip past filters. The target we are committing to is at least ninety percent detection, and we can measure it honestly because we generate the attacks ourselves and know exactly what should have been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objective is about context. Simply detecting something is not enough — an alert that only says 'suspicious IP detected' does not help anyone decide what to do next. So for every detection we want to attach three things: a MITRE ATT&amp;CK technique ID, so the alert has a standard name that any security team would recognise; a reputation score, which tells us whether that address has already been reported for abuse by other people; and a rough geographic location. For anything that needs a closer look, we plan an on-demand VirusTotal check rather than querying every address automatically, because the free API limits are small. Our targets here are deliberately strict and easy to audit — every single detection mapped, and at least ninety-five percent of flagged external addresses enriched.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objective is usability. All of this data is useless if you need to write database queries to read it. We aim to build a dashboard using Streamlit, which is a Python library for building simple web interfaces, sitting on top of DuckDB, a lightweight database that is very fast at aggregating large tables. The user should be able to see the detected events, filter and sort them, and click into a single alert to see its full context — without touching raw packet data or writing SQL. What you see on the left is only a conceptual layout to show the idea, not a screenshot, because implementation belongs to a later phase. Our measurable target is that results from a dataset of a hundred thousand packets load in under three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really the answer to the question a professor would ask: how will you know whether you succeeded? Each of our three objectives has exactly one number attached to it, and each can be tested on its own. Detection is tested by running attack traffic we generated ourselves and counting what the engine caught. Context is tested by auditing what fraction of the alerts came out with complete information attached. Investigation is tested by simply timing the dashboard against a fixed dataset of a hundred thousand packets. The whole story of the project fits into three words at the bottom: detect, understand,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if we achieve these three objectives, what we end up with is a small, explainable intrusion detection and analysis system. It is useful for learning, for monitoring a small lab network, and as a proof of concept for the kind of pipeline that a Security Operations Center, or SOC, runs at a far larger scale. We have also noted one possible future extension — an Isolation Forest, which is a machine learning method that flags unusual data points without needing labelled examples of attacks. I want to stress that this is optional and is not one of our three objectives for this phase; we mention it only to show where the project could grow. For now our aim is exactly the sentence at the bottom: turn overwhelming network traffic into a small set of understandable, actionable security events.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365760" y="365760"/>
            <a:ext cx="11457432" cy="6126480"/>
          </a:xfrm>
          <a:prstGeom prst="rect">
            <a:avLst/>
          </a:prstGeom>
          <a:solidFill>
            <a:srgbClr val="FAF7F2"/>
          </a:solidFill>
          <a:ln w="12700">
            <a:solidFill>
              <a:srgbClr val="E0D4C0"/>
            </a:solidFill>
            <a:prstDash val="solid"/>
          </a:ln>
        </p:spPr>
      </p:sp>
      <p:sp>
        <p:nvSpPr>
          <p:cNvPr id="3" name="Shape 1"/>
          <p:cNvSpPr/>
          <p:nvPr/>
        </p:nvSpPr>
        <p:spPr>
          <a:xfrm>
            <a:off x="1371600" y="1371600"/>
            <a:ext cx="9445752" cy="4114800"/>
          </a:xfrm>
          <a:prstGeom prst="rect">
            <a:avLst/>
          </a:prstGeom>
          <a:solidFill>
            <a:srgbClr val="FFFCF9"/>
          </a:solidFill>
          <a:ln w="19050">
            <a:solidFill>
              <a:srgbClr val="B58A42"/>
            </a:solidFill>
            <a:prstDash val="solid"/>
          </a:ln>
        </p:spPr>
      </p:sp>
      <p:sp>
        <p:nvSpPr>
          <p:cNvPr id="4" name="Shape 2"/>
          <p:cNvSpPr/>
          <p:nvPr/>
        </p:nvSpPr>
        <p:spPr>
          <a:xfrm>
            <a:off x="1481328" y="1481328"/>
            <a:ext cx="9226296" cy="3895344"/>
          </a:xfrm>
          <a:prstGeom prst="rect">
            <a:avLst/>
          </a:prstGeom>
          <a:ln w="9525">
            <a:solidFill>
              <a:srgbClr val="E0D4C0"/>
            </a:solidFill>
            <a:prstDash val="solid"/>
          </a:ln>
        </p:spPr>
      </p:sp>
      <p:sp>
        <p:nvSpPr>
          <p:cNvPr id="5" name="Text 3"/>
          <p:cNvSpPr txBox="1"/>
          <p:nvPr/>
        </p:nvSpPr>
        <p:spPr>
          <a:xfrm>
            <a:off x="1828800" y="1874520"/>
            <a:ext cx="8531352" cy="292608"/>
          </a:xfrm>
          <a:prstGeom prst="rect">
            <a:avLst/>
          </a:prstGeom>
          <a:noFill/>
          <a:ln/>
        </p:spPr>
        <p:txBody>
          <a:bodyPr wrap="square" lIns="0" tIns="0" rIns="0" bIns="0" rtlCol="0" anchor="ctr"/>
          <a:lstStyle/>
          <a:p>
            <a:pPr algn="ctr" indent="0" marL="0">
              <a:buNone/>
            </a:pPr>
            <a:r>
              <a:rPr lang="en-US" sz="1250" b="1" spc="300" kern="0" dirty="0">
                <a:solidFill>
                  <a:srgbClr val="B58A42"/>
                </a:solidFill>
                <a:latin typeface="Arial" pitchFamily="34" charset="0"/>
                <a:ea typeface="Arial" pitchFamily="34" charset="-122"/>
                <a:cs typeface="Arial" pitchFamily="34" charset="-120"/>
              </a:rPr>
              <a:t>A CPI PROJECT ON NETWORK SECURITY</a:t>
            </a:r>
            <a:endParaRPr lang="en-US" sz="1250" dirty="0"/>
          </a:p>
        </p:txBody>
      </p:sp>
      <p:sp>
        <p:nvSpPr>
          <p:cNvPr id="6" name="Text 4"/>
          <p:cNvSpPr txBox="1"/>
          <p:nvPr/>
        </p:nvSpPr>
        <p:spPr>
          <a:xfrm>
            <a:off x="1828800" y="2240280"/>
            <a:ext cx="8531352" cy="1371600"/>
          </a:xfrm>
          <a:prstGeom prst="rect">
            <a:avLst/>
          </a:prstGeom>
          <a:noFill/>
          <a:ln/>
        </p:spPr>
        <p:txBody>
          <a:bodyPr wrap="square" lIns="0" tIns="0" rIns="0" bIns="0" rtlCol="0" anchor="ctr"/>
          <a:lstStyle/>
          <a:p>
            <a:pPr algn="ctr" indent="0" marL="0">
              <a:lnSpc>
                <a:spcPct val="115000"/>
              </a:lnSpc>
              <a:buNone/>
            </a:pPr>
            <a:r>
              <a:rPr lang="en-US" sz="3200" b="1" dirty="0">
                <a:solidFill>
                  <a:srgbClr val="111E38"/>
                </a:solidFill>
                <a:latin typeface="Georgia" pitchFamily="34" charset="0"/>
                <a:ea typeface="Georgia" pitchFamily="34" charset="-122"/>
                <a:cs typeface="Georgia" pitchFamily="34" charset="-120"/>
              </a:rPr>
              <a:t>Network Traffic Analysis</a:t>
            </a:r>
            <a:endParaRPr lang="en-US" sz="3200" dirty="0"/>
          </a:p>
          <a:p>
            <a:pPr algn="ctr" indent="0" marL="0">
              <a:lnSpc>
                <a:spcPct val="115000"/>
              </a:lnSpc>
              <a:buNone/>
            </a:pPr>
            <a:r>
              <a:rPr lang="en-US" sz="3200" b="1" dirty="0">
                <a:solidFill>
                  <a:srgbClr val="111E38"/>
                </a:solidFill>
                <a:latin typeface="Georgia" pitchFamily="34" charset="0"/>
                <a:ea typeface="Georgia" pitchFamily="34" charset="-122"/>
                <a:cs typeface="Georgia" pitchFamily="34" charset="-120"/>
              </a:rPr>
              <a:t>&amp; Hybrid Intrusion Detection</a:t>
            </a:r>
            <a:endParaRPr lang="en-US" sz="3200" dirty="0"/>
          </a:p>
        </p:txBody>
      </p:sp>
      <p:sp>
        <p:nvSpPr>
          <p:cNvPr id="7" name="Text 5"/>
          <p:cNvSpPr txBox="1"/>
          <p:nvPr/>
        </p:nvSpPr>
        <p:spPr>
          <a:xfrm>
            <a:off x="1828800" y="3685032"/>
            <a:ext cx="8531352" cy="365760"/>
          </a:xfrm>
          <a:prstGeom prst="rect">
            <a:avLst/>
          </a:prstGeom>
          <a:noFill/>
          <a:ln/>
        </p:spPr>
        <p:txBody>
          <a:bodyPr wrap="square" lIns="0" tIns="0" rIns="0" bIns="0" rtlCol="0" anchor="ctr"/>
          <a:lstStyle/>
          <a:p>
            <a:pPr algn="ctr" indent="0" marL="0">
              <a:buNone/>
            </a:pPr>
            <a:r>
              <a:rPr lang="en-US" sz="1700" i="1" dirty="0">
                <a:solidFill>
                  <a:srgbClr val="1E3A27"/>
                </a:solidFill>
                <a:latin typeface="Georgia" pitchFamily="34" charset="0"/>
                <a:ea typeface="Georgia" pitchFamily="34" charset="-122"/>
                <a:cs typeface="Georgia" pitchFamily="34" charset="-120"/>
              </a:rPr>
              <a:t>Turning Raw Network Traffic into Actionable Security Insights</a:t>
            </a:r>
            <a:endParaRPr lang="en-US" sz="1700" dirty="0"/>
          </a:p>
        </p:txBody>
      </p:sp>
      <p:sp>
        <p:nvSpPr>
          <p:cNvPr id="8" name="Text 6"/>
          <p:cNvSpPr txBox="1"/>
          <p:nvPr/>
        </p:nvSpPr>
        <p:spPr>
          <a:xfrm>
            <a:off x="1828800" y="4206240"/>
            <a:ext cx="8531352" cy="274320"/>
          </a:xfrm>
          <a:prstGeom prst="rect">
            <a:avLst/>
          </a:prstGeom>
          <a:noFill/>
          <a:ln/>
        </p:spPr>
        <p:txBody>
          <a:bodyPr wrap="square" lIns="0" tIns="0" rIns="0" bIns="0" rtlCol="0" anchor="ctr"/>
          <a:lstStyle/>
          <a:p>
            <a:pPr algn="ctr" indent="0" marL="0">
              <a:buNone/>
            </a:pPr>
            <a:r>
              <a:rPr lang="en-US" sz="1300" dirty="0">
                <a:solidFill>
                  <a:srgbClr val="B58A42"/>
                </a:solidFill>
                <a:latin typeface="Georgia" pitchFamily="34" charset="0"/>
                <a:ea typeface="Georgia" pitchFamily="34" charset="-122"/>
                <a:cs typeface="Georgia" pitchFamily="34" charset="-120"/>
              </a:rPr>
              <a:t>♦   ♦   ♦</a:t>
            </a:r>
            <a:endParaRPr lang="en-US" sz="1300" dirty="0"/>
          </a:p>
        </p:txBody>
      </p:sp>
      <p:sp>
        <p:nvSpPr>
          <p:cNvPr id="9" name="Text 7"/>
          <p:cNvSpPr txBox="1"/>
          <p:nvPr/>
        </p:nvSpPr>
        <p:spPr>
          <a:xfrm>
            <a:off x="1828800" y="4617720"/>
            <a:ext cx="8531352" cy="274320"/>
          </a:xfrm>
          <a:prstGeom prst="rect">
            <a:avLst/>
          </a:prstGeom>
          <a:noFill/>
          <a:ln/>
        </p:spPr>
        <p:txBody>
          <a:bodyPr wrap="square" lIns="0" tIns="0" rIns="0" bIns="0" rtlCol="0" anchor="ctr"/>
          <a:lstStyle/>
          <a:p>
            <a:pPr algn="ctr" indent="0" marL="0">
              <a:buNone/>
            </a:pPr>
            <a:r>
              <a:rPr lang="en-US" sz="1300" dirty="0">
                <a:solidFill>
                  <a:srgbClr val="4A586E"/>
                </a:solidFill>
                <a:latin typeface="Arial" pitchFamily="34" charset="0"/>
                <a:ea typeface="Arial" pitchFamily="34" charset="-122"/>
                <a:cs typeface="Arial" pitchFamily="34" charset="-120"/>
              </a:rPr>
              <a:t>CPI — Creativity, Problem Solving and Innovation</a:t>
            </a:r>
            <a:endParaRPr lang="en-US" sz="1300" dirty="0"/>
          </a:p>
        </p:txBody>
      </p:sp>
      <p:sp>
        <p:nvSpPr>
          <p:cNvPr id="10" name="Text 8"/>
          <p:cNvSpPr txBox="1"/>
          <p:nvPr/>
        </p:nvSpPr>
        <p:spPr>
          <a:xfrm>
            <a:off x="1828800" y="4919472"/>
            <a:ext cx="8531352" cy="274320"/>
          </a:xfrm>
          <a:prstGeom prst="rect">
            <a:avLst/>
          </a:prstGeom>
          <a:noFill/>
          <a:ln/>
        </p:spPr>
        <p:txBody>
          <a:bodyPr wrap="square" lIns="0" tIns="0" rIns="0" bIns="0" rtlCol="0" anchor="ctr"/>
          <a:lstStyle/>
          <a:p>
            <a:pPr algn="ctr" indent="0" marL="0">
              <a:buNone/>
            </a:pPr>
            <a:r>
              <a:rPr lang="en-US" sz="1100" b="1" spc="240" kern="0" dirty="0">
                <a:solidFill>
                  <a:srgbClr val="B58A42"/>
                </a:solidFill>
                <a:latin typeface="Arial" pitchFamily="34" charset="0"/>
                <a:ea typeface="Arial" pitchFamily="34" charset="-122"/>
                <a:cs typeface="Arial" pitchFamily="34" charset="-120"/>
              </a:rPr>
              <a:t>OBJECTIVES PHASE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365760" y="365760"/>
            <a:ext cx="11457432" cy="6126480"/>
          </a:xfrm>
          <a:prstGeom prst="rect">
            <a:avLst/>
          </a:prstGeom>
          <a:solidFill>
            <a:srgbClr val="FAF7F2"/>
          </a:solidFill>
          <a:ln w="12700">
            <a:solidFill>
              <a:srgbClr val="E0D4C0"/>
            </a:solidFill>
            <a:prstDash val="solid"/>
          </a:ln>
        </p:spPr>
      </p:sp>
      <p:sp>
        <p:nvSpPr>
          <p:cNvPr id="3" name="Text 1"/>
          <p:cNvSpPr txBox="1"/>
          <p:nvPr/>
        </p:nvSpPr>
        <p:spPr>
          <a:xfrm>
            <a:off x="731520" y="566928"/>
            <a:ext cx="8229600" cy="274320"/>
          </a:xfrm>
          <a:prstGeom prst="rect">
            <a:avLst/>
          </a:prstGeom>
          <a:noFill/>
          <a:ln/>
        </p:spPr>
        <p:txBody>
          <a:bodyPr wrap="square" lIns="0" tIns="0" rIns="0" bIns="0" rtlCol="0" anchor="ctr"/>
          <a:lstStyle/>
          <a:p>
            <a:pPr indent="0" marL="0">
              <a:buNone/>
            </a:pPr>
            <a:r>
              <a:rPr lang="en-US" sz="1200" b="1" spc="240" kern="0" dirty="0">
                <a:solidFill>
                  <a:srgbClr val="B58A42"/>
                </a:solidFill>
                <a:latin typeface="Arial" pitchFamily="34" charset="0"/>
                <a:ea typeface="Arial" pitchFamily="34" charset="-122"/>
                <a:cs typeface="Arial" pitchFamily="34" charset="-120"/>
              </a:rPr>
              <a:t>I. THE PROBLEM</a:t>
            </a:r>
            <a:endParaRPr lang="en-US" sz="1200" dirty="0"/>
          </a:p>
        </p:txBody>
      </p:sp>
      <p:sp>
        <p:nvSpPr>
          <p:cNvPr id="4" name="Text 2"/>
          <p:cNvSpPr txBox="1"/>
          <p:nvPr/>
        </p:nvSpPr>
        <p:spPr>
          <a:xfrm>
            <a:off x="731520" y="877824"/>
            <a:ext cx="10725912" cy="658368"/>
          </a:xfrm>
          <a:prstGeom prst="rect">
            <a:avLst/>
          </a:prstGeom>
          <a:noFill/>
          <a:ln/>
        </p:spPr>
        <p:txBody>
          <a:bodyPr wrap="square" lIns="0" tIns="0" rIns="0" bIns="0" rtlCol="0" anchor="ctr"/>
          <a:lstStyle/>
          <a:p>
            <a:pPr indent="0" marL="0">
              <a:buNone/>
            </a:pPr>
            <a:r>
              <a:rPr lang="en-US" sz="3000" b="1" dirty="0">
                <a:solidFill>
                  <a:srgbClr val="111E38"/>
                </a:solidFill>
                <a:latin typeface="Georgia" pitchFamily="34" charset="0"/>
                <a:ea typeface="Georgia" pitchFamily="34" charset="-122"/>
                <a:cs typeface="Georgia" pitchFamily="34" charset="-120"/>
              </a:rPr>
              <a:t>Finding the Threat Hidden in the Traffic</a:t>
            </a:r>
            <a:endParaRPr lang="en-US" sz="3000" dirty="0"/>
          </a:p>
        </p:txBody>
      </p:sp>
      <p:sp>
        <p:nvSpPr>
          <p:cNvPr id="5" name="Shape 3"/>
          <p:cNvSpPr/>
          <p:nvPr/>
        </p:nvSpPr>
        <p:spPr>
          <a:xfrm>
            <a:off x="731520" y="1645920"/>
            <a:ext cx="10725912" cy="18288"/>
          </a:xfrm>
          <a:prstGeom prst="rect">
            <a:avLst/>
          </a:prstGeom>
          <a:solidFill>
            <a:srgbClr val="B58A42"/>
          </a:solidFill>
          <a:ln w="12700">
            <a:solidFill>
              <a:srgbClr val="B58A42"/>
            </a:solidFill>
            <a:prstDash val="solid"/>
          </a:ln>
        </p:spPr>
      </p:sp>
      <p:sp>
        <p:nvSpPr>
          <p:cNvPr id="6" name="Text 4"/>
          <p:cNvSpPr txBox="1"/>
          <p:nvPr/>
        </p:nvSpPr>
        <p:spPr>
          <a:xfrm>
            <a:off x="731520" y="2103120"/>
            <a:ext cx="5303520" cy="1920240"/>
          </a:xfrm>
          <a:prstGeom prst="rect">
            <a:avLst/>
          </a:prstGeom>
          <a:noFill/>
          <a:ln/>
        </p:spPr>
        <p:txBody>
          <a:bodyPr wrap="square" lIns="0" tIns="0" rIns="0" bIns="0" rtlCol="0" anchor="t"/>
          <a:lstStyle/>
          <a:p>
            <a:pPr indent="0" marL="0">
              <a:buNone/>
            </a:pPr>
            <a:r>
              <a:rPr lang="en-US" sz="1350" b="1" dirty="0">
                <a:solidFill>
                  <a:srgbClr val="B58A42"/>
                </a:solidFill>
                <a:latin typeface="Georgia" pitchFamily="34" charset="0"/>
                <a:ea typeface="Georgia" pitchFamily="34" charset="-122"/>
                <a:cs typeface="Georgia" pitchFamily="34" charset="-120"/>
              </a:rPr>
              <a:t>♦   </a:t>
            </a:r>
            <a:pPr indent="0" marL="0">
              <a:spcAft>
                <a:spcPts val="1300"/>
              </a:spcAft>
              <a:buNone/>
            </a:pPr>
            <a:r>
              <a:rPr lang="en-US" sz="1450" dirty="0">
                <a:solidFill>
                  <a:srgbClr val="111E38"/>
                </a:solidFill>
                <a:latin typeface="Arial" pitchFamily="34" charset="0"/>
                <a:ea typeface="Arial" pitchFamily="34" charset="-122"/>
                <a:cs typeface="Arial" pitchFamily="34" charset="-120"/>
              </a:rPr>
              <a:t>Modern networks generate enormous volumes of traffic.</a:t>
            </a:r>
            <a:endParaRPr lang="en-US" sz="1350" dirty="0"/>
          </a:p>
          <a:p>
            <a:pPr indent="0" marL="0">
              <a:buNone/>
            </a:pPr>
            <a:r>
              <a:rPr lang="en-US" sz="1350" b="1" dirty="0">
                <a:solidFill>
                  <a:srgbClr val="B58A42"/>
                </a:solidFill>
                <a:latin typeface="Georgia" pitchFamily="34" charset="0"/>
                <a:ea typeface="Georgia" pitchFamily="34" charset="-122"/>
                <a:cs typeface="Georgia" pitchFamily="34" charset="-120"/>
              </a:rPr>
              <a:t>♦   </a:t>
            </a:r>
            <a:pPr indent="0" marL="0">
              <a:spcAft>
                <a:spcPts val="1300"/>
              </a:spcAft>
              <a:buNone/>
            </a:pPr>
            <a:r>
              <a:rPr lang="en-US" sz="1450" dirty="0">
                <a:solidFill>
                  <a:srgbClr val="111E38"/>
                </a:solidFill>
                <a:latin typeface="Arial" pitchFamily="34" charset="0"/>
                <a:ea typeface="Arial" pitchFamily="34" charset="-122"/>
                <a:cs typeface="Arial" pitchFamily="34" charset="-120"/>
              </a:rPr>
              <a:t>Attacks hide inside ordinary, legitimate activity.</a:t>
            </a:r>
            <a:endParaRPr lang="en-US" sz="1350" dirty="0"/>
          </a:p>
          <a:p>
            <a:pPr indent="0" marL="0">
              <a:buNone/>
            </a:pPr>
            <a:r>
              <a:rPr lang="en-US" sz="1350" b="1" dirty="0">
                <a:solidFill>
                  <a:srgbClr val="B58A42"/>
                </a:solidFill>
                <a:latin typeface="Georgia" pitchFamily="34" charset="0"/>
                <a:ea typeface="Georgia" pitchFamily="34" charset="-122"/>
                <a:cs typeface="Georgia" pitchFamily="34" charset="-120"/>
              </a:rPr>
              <a:t>♦   </a:t>
            </a:r>
            <a:pPr indent="0" marL="0">
              <a:spcAft>
                <a:spcPts val="1300"/>
              </a:spcAft>
              <a:buNone/>
            </a:pPr>
            <a:r>
              <a:rPr lang="en-US" sz="1450" dirty="0">
                <a:solidFill>
                  <a:srgbClr val="111E38"/>
                </a:solidFill>
                <a:latin typeface="Arial" pitchFamily="34" charset="0"/>
                <a:ea typeface="Arial" pitchFamily="34" charset="-122"/>
                <a:cs typeface="Arial" pitchFamily="34" charset="-120"/>
              </a:rPr>
              <a:t>Manual packet inspection is slow and error-prone.</a:t>
            </a:r>
            <a:endParaRPr lang="en-US" sz="1350" dirty="0"/>
          </a:p>
          <a:p>
            <a:pPr indent="0" marL="0">
              <a:buNone/>
            </a:pPr>
            <a:r>
              <a:rPr lang="en-US" sz="1350" b="1" dirty="0">
                <a:solidFill>
                  <a:srgbClr val="B58A42"/>
                </a:solidFill>
                <a:latin typeface="Georgia" pitchFamily="34" charset="0"/>
                <a:ea typeface="Georgia" pitchFamily="34" charset="-122"/>
                <a:cs typeface="Georgia" pitchFamily="34" charset="-120"/>
              </a:rPr>
              <a:t>♦   </a:t>
            </a:r>
            <a:pPr indent="0" marL="0">
              <a:spcAft>
                <a:spcPts val="1300"/>
              </a:spcAft>
              <a:buNone/>
            </a:pPr>
            <a:r>
              <a:rPr lang="en-US" sz="1450" dirty="0">
                <a:solidFill>
                  <a:srgbClr val="111E38"/>
                </a:solidFill>
                <a:latin typeface="Arial" pitchFamily="34" charset="0"/>
                <a:ea typeface="Arial" pitchFamily="34" charset="-122"/>
                <a:cs typeface="Arial" pitchFamily="34" charset="-120"/>
              </a:rPr>
              <a:t>No analyst can realistically read millions of packets.</a:t>
            </a:r>
            <a:endParaRPr lang="en-US" sz="1350" dirty="0"/>
          </a:p>
        </p:txBody>
      </p:sp>
      <p:sp>
        <p:nvSpPr>
          <p:cNvPr id="7" name="Shape 5"/>
          <p:cNvSpPr/>
          <p:nvPr/>
        </p:nvSpPr>
        <p:spPr>
          <a:xfrm>
            <a:off x="6583680" y="2103120"/>
            <a:ext cx="4873752" cy="1874520"/>
          </a:xfrm>
          <a:prstGeom prst="rect">
            <a:avLst/>
          </a:prstGeom>
          <a:solidFill>
            <a:srgbClr val="FFFCF9"/>
          </a:solidFill>
          <a:ln w="9525">
            <a:solidFill>
              <a:srgbClr val="E0D4C0"/>
            </a:solidFill>
            <a:prstDash val="solid"/>
          </a:ln>
        </p:spPr>
      </p:sp>
      <p:sp>
        <p:nvSpPr>
          <p:cNvPr id="8" name="Text 6"/>
          <p:cNvSpPr txBox="1"/>
          <p:nvPr/>
        </p:nvSpPr>
        <p:spPr>
          <a:xfrm>
            <a:off x="6812280" y="2304288"/>
            <a:ext cx="4416552" cy="237744"/>
          </a:xfrm>
          <a:prstGeom prst="rect">
            <a:avLst/>
          </a:prstGeom>
          <a:noFill/>
          <a:ln/>
        </p:spPr>
        <p:txBody>
          <a:bodyPr wrap="square" lIns="0" tIns="0" rIns="0" bIns="0" rtlCol="0" anchor="ctr"/>
          <a:lstStyle/>
          <a:p>
            <a:pPr algn="ctr" indent="0" marL="0">
              <a:buNone/>
            </a:pPr>
            <a:r>
              <a:rPr lang="en-US" sz="1050" b="1" spc="180" kern="0" dirty="0">
                <a:solidFill>
                  <a:srgbClr val="B58A42"/>
                </a:solidFill>
                <a:latin typeface="Arial" pitchFamily="34" charset="0"/>
                <a:ea typeface="Arial" pitchFamily="34" charset="-122"/>
                <a:cs typeface="Arial" pitchFamily="34" charset="-120"/>
              </a:rPr>
              <a:t>THE CORE DIFFICULTY</a:t>
            </a:r>
            <a:endParaRPr lang="en-US" sz="1050" dirty="0"/>
          </a:p>
        </p:txBody>
      </p:sp>
      <p:sp>
        <p:nvSpPr>
          <p:cNvPr id="9" name="Text 7"/>
          <p:cNvSpPr txBox="1"/>
          <p:nvPr/>
        </p:nvSpPr>
        <p:spPr>
          <a:xfrm>
            <a:off x="6858000" y="2651760"/>
            <a:ext cx="4325112" cy="868680"/>
          </a:xfrm>
          <a:prstGeom prst="rect">
            <a:avLst/>
          </a:prstGeom>
          <a:noFill/>
          <a:ln/>
        </p:spPr>
        <p:txBody>
          <a:bodyPr wrap="square" lIns="0" tIns="0" rIns="0" bIns="0" rtlCol="0" anchor="ctr"/>
          <a:lstStyle/>
          <a:p>
            <a:pPr algn="ctr" indent="0" marL="0">
              <a:lnSpc>
                <a:spcPct val="120000"/>
              </a:lnSpc>
              <a:buNone/>
            </a:pPr>
            <a:r>
              <a:rPr lang="en-US" sz="1450" i="1" dirty="0">
                <a:solidFill>
                  <a:srgbClr val="111E38"/>
                </a:solidFill>
                <a:latin typeface="Georgia" pitchFamily="34" charset="0"/>
                <a:ea typeface="Georgia" pitchFamily="34" charset="-122"/>
                <a:cs typeface="Georgia" pitchFamily="34" charset="-120"/>
              </a:rPr>
              <a:t>Finding malicious packets by hand is like looking for a few suspicious letters inside an entire city's mail.</a:t>
            </a:r>
            <a:endParaRPr lang="en-US" sz="1450" dirty="0"/>
          </a:p>
        </p:txBody>
      </p:sp>
      <p:sp>
        <p:nvSpPr>
          <p:cNvPr id="10" name="Text 8"/>
          <p:cNvSpPr txBox="1"/>
          <p:nvPr/>
        </p:nvSpPr>
        <p:spPr>
          <a:xfrm>
            <a:off x="6858000" y="3547872"/>
            <a:ext cx="4325112" cy="292608"/>
          </a:xfrm>
          <a:prstGeom prst="rect">
            <a:avLst/>
          </a:prstGeom>
          <a:noFill/>
          <a:ln/>
        </p:spPr>
        <p:txBody>
          <a:bodyPr wrap="square" lIns="0" tIns="0" rIns="0" bIns="0" rtlCol="0" anchor="ctr"/>
          <a:lstStyle/>
          <a:p>
            <a:pPr algn="ctr" indent="0" marL="0">
              <a:buNone/>
            </a:pPr>
            <a:r>
              <a:rPr lang="en-US" sz="1150" dirty="0">
                <a:solidFill>
                  <a:srgbClr val="4A586E"/>
                </a:solidFill>
                <a:latin typeface="Arial" pitchFamily="34" charset="0"/>
                <a:ea typeface="Arial" pitchFamily="34" charset="-122"/>
                <a:cs typeface="Arial" pitchFamily="34" charset="-120"/>
              </a:rPr>
              <a:t>The volume is the problem — not any single packet.</a:t>
            </a:r>
            <a:endParaRPr lang="en-US" sz="1150" dirty="0"/>
          </a:p>
        </p:txBody>
      </p:sp>
      <p:sp>
        <p:nvSpPr>
          <p:cNvPr id="11" name="Shape 9"/>
          <p:cNvSpPr/>
          <p:nvPr/>
        </p:nvSpPr>
        <p:spPr>
          <a:xfrm>
            <a:off x="731520" y="4389120"/>
            <a:ext cx="4160520" cy="1280160"/>
          </a:xfrm>
          <a:prstGeom prst="rect">
            <a:avLst/>
          </a:prstGeom>
          <a:solidFill>
            <a:srgbClr val="FFFCF9"/>
          </a:solidFill>
          <a:ln w="9525">
            <a:solidFill>
              <a:srgbClr val="E0D4C0"/>
            </a:solidFill>
            <a:prstDash val="solid"/>
          </a:ln>
        </p:spPr>
      </p:sp>
      <p:sp>
        <p:nvSpPr>
          <p:cNvPr id="12" name="Text 10"/>
          <p:cNvSpPr txBox="1"/>
          <p:nvPr/>
        </p:nvSpPr>
        <p:spPr>
          <a:xfrm>
            <a:off x="932688" y="4608576"/>
            <a:ext cx="3758184" cy="237744"/>
          </a:xfrm>
          <a:prstGeom prst="rect">
            <a:avLst/>
          </a:prstGeom>
          <a:noFill/>
          <a:ln/>
        </p:spPr>
        <p:txBody>
          <a:bodyPr wrap="square" lIns="0" tIns="0" rIns="0" bIns="0" rtlCol="0" anchor="ctr"/>
          <a:lstStyle/>
          <a:p>
            <a:pPr algn="l" indent="0" marL="0">
              <a:buNone/>
            </a:pPr>
            <a:r>
              <a:rPr lang="en-US" sz="1050" b="1" spc="180" kern="0" dirty="0">
                <a:solidFill>
                  <a:srgbClr val="B58A42"/>
                </a:solidFill>
                <a:latin typeface="Arial" pitchFamily="34" charset="0"/>
                <a:ea typeface="Arial" pitchFamily="34" charset="-122"/>
                <a:cs typeface="Arial" pitchFamily="34" charset="-120"/>
              </a:rPr>
              <a:t>MILLIONS OF PACKETS</a:t>
            </a:r>
            <a:endParaRPr lang="en-US" sz="1050" dirty="0"/>
          </a:p>
        </p:txBody>
      </p:sp>
      <p:sp>
        <p:nvSpPr>
          <p:cNvPr id="13" name="Text 11"/>
          <p:cNvSpPr txBox="1"/>
          <p:nvPr/>
        </p:nvSpPr>
        <p:spPr>
          <a:xfrm>
            <a:off x="932688" y="4901184"/>
            <a:ext cx="3758184" cy="457200"/>
          </a:xfrm>
          <a:prstGeom prst="rect">
            <a:avLst/>
          </a:prstGeom>
          <a:noFill/>
          <a:ln/>
        </p:spPr>
        <p:txBody>
          <a:bodyPr wrap="square" lIns="0" tIns="0" rIns="0" bIns="0" rtlCol="0" anchor="t"/>
          <a:lstStyle/>
          <a:p>
            <a:pPr indent="0" marL="0">
              <a:buNone/>
            </a:pPr>
            <a:r>
              <a:rPr lang="en-US" sz="1200" dirty="0">
                <a:solidFill>
                  <a:srgbClr val="4A586E"/>
                </a:solidFill>
                <a:latin typeface="Arial" pitchFamily="34" charset="0"/>
                <a:ea typeface="Arial" pitchFamily="34" charset="-122"/>
                <a:cs typeface="Arial" pitchFamily="34" charset="-120"/>
              </a:rPr>
              <a:t>Normal traffic, generated every second</a:t>
            </a:r>
            <a:endParaRPr lang="en-US" sz="1200" dirty="0"/>
          </a:p>
        </p:txBody>
      </p:sp>
      <p:sp>
        <p:nvSpPr>
          <p:cNvPr id="14" name="Shape 12"/>
          <p:cNvSpPr/>
          <p:nvPr/>
        </p:nvSpPr>
        <p:spPr>
          <a:xfrm>
            <a:off x="5349240" y="4389120"/>
            <a:ext cx="3246120" cy="1280160"/>
          </a:xfrm>
          <a:prstGeom prst="rect">
            <a:avLst/>
          </a:prstGeom>
          <a:solidFill>
            <a:srgbClr val="FFFCF9"/>
          </a:solidFill>
          <a:ln w="9525">
            <a:solidFill>
              <a:srgbClr val="E0D4C0"/>
            </a:solidFill>
            <a:prstDash val="solid"/>
          </a:ln>
        </p:spPr>
      </p:sp>
      <p:sp>
        <p:nvSpPr>
          <p:cNvPr id="15" name="Text 13"/>
          <p:cNvSpPr txBox="1"/>
          <p:nvPr/>
        </p:nvSpPr>
        <p:spPr>
          <a:xfrm>
            <a:off x="5550408" y="4608576"/>
            <a:ext cx="2843784" cy="237744"/>
          </a:xfrm>
          <a:prstGeom prst="rect">
            <a:avLst/>
          </a:prstGeom>
          <a:noFill/>
          <a:ln/>
        </p:spPr>
        <p:txBody>
          <a:bodyPr wrap="square" lIns="0" tIns="0" rIns="0" bIns="0" rtlCol="0" anchor="ctr"/>
          <a:lstStyle/>
          <a:p>
            <a:pPr algn="l" indent="0" marL="0">
              <a:buNone/>
            </a:pPr>
            <a:r>
              <a:rPr lang="en-US" sz="1050" b="1" spc="180" kern="0" dirty="0">
                <a:solidFill>
                  <a:srgbClr val="B58A42"/>
                </a:solidFill>
                <a:latin typeface="Arial" pitchFamily="34" charset="0"/>
                <a:ea typeface="Arial" pitchFamily="34" charset="-122"/>
                <a:cs typeface="Arial" pitchFamily="34" charset="-120"/>
              </a:rPr>
              <a:t>A FEW SUSPICIOUS</a:t>
            </a:r>
            <a:endParaRPr lang="en-US" sz="1050" dirty="0"/>
          </a:p>
        </p:txBody>
      </p:sp>
      <p:sp>
        <p:nvSpPr>
          <p:cNvPr id="16" name="Text 14"/>
          <p:cNvSpPr txBox="1"/>
          <p:nvPr/>
        </p:nvSpPr>
        <p:spPr>
          <a:xfrm>
            <a:off x="5550408" y="4901184"/>
            <a:ext cx="2843784" cy="457200"/>
          </a:xfrm>
          <a:prstGeom prst="rect">
            <a:avLst/>
          </a:prstGeom>
          <a:noFill/>
          <a:ln/>
        </p:spPr>
        <p:txBody>
          <a:bodyPr wrap="square" lIns="0" tIns="0" rIns="0" bIns="0" rtlCol="0" anchor="t"/>
          <a:lstStyle/>
          <a:p>
            <a:pPr indent="0" marL="0">
              <a:buNone/>
            </a:pPr>
            <a:r>
              <a:rPr lang="en-US" sz="1200" dirty="0">
                <a:solidFill>
                  <a:srgbClr val="4A586E"/>
                </a:solidFill>
                <a:latin typeface="Arial" pitchFamily="34" charset="0"/>
                <a:ea typeface="Arial" pitchFamily="34" charset="-122"/>
                <a:cs typeface="Arial" pitchFamily="34" charset="-120"/>
              </a:rPr>
              <a:t>Scanning, flooding, spoofing, exfiltration</a:t>
            </a:r>
            <a:endParaRPr lang="en-US" sz="1200" dirty="0"/>
          </a:p>
        </p:txBody>
      </p:sp>
      <p:sp>
        <p:nvSpPr>
          <p:cNvPr id="17" name="Shape 15"/>
          <p:cNvSpPr/>
          <p:nvPr/>
        </p:nvSpPr>
        <p:spPr>
          <a:xfrm>
            <a:off x="9052560" y="4389120"/>
            <a:ext cx="2404872" cy="1280160"/>
          </a:xfrm>
          <a:prstGeom prst="rect">
            <a:avLst/>
          </a:prstGeom>
          <a:solidFill>
            <a:srgbClr val="FFFCF9"/>
          </a:solidFill>
          <a:ln w="9525">
            <a:solidFill>
              <a:srgbClr val="E0D4C0"/>
            </a:solidFill>
            <a:prstDash val="solid"/>
          </a:ln>
        </p:spPr>
      </p:sp>
      <p:sp>
        <p:nvSpPr>
          <p:cNvPr id="18" name="Text 16"/>
          <p:cNvSpPr txBox="1"/>
          <p:nvPr/>
        </p:nvSpPr>
        <p:spPr>
          <a:xfrm>
            <a:off x="9253728" y="4608576"/>
            <a:ext cx="2002536" cy="237744"/>
          </a:xfrm>
          <a:prstGeom prst="rect">
            <a:avLst/>
          </a:prstGeom>
          <a:noFill/>
          <a:ln/>
        </p:spPr>
        <p:txBody>
          <a:bodyPr wrap="square" lIns="0" tIns="0" rIns="0" bIns="0" rtlCol="0" anchor="ctr"/>
          <a:lstStyle/>
          <a:p>
            <a:pPr algn="l" indent="0" marL="0">
              <a:buNone/>
            </a:pPr>
            <a:r>
              <a:rPr lang="en-US" sz="1050" b="1" spc="180" kern="0" dirty="0">
                <a:solidFill>
                  <a:srgbClr val="B58A42"/>
                </a:solidFill>
                <a:latin typeface="Arial" pitchFamily="34" charset="0"/>
                <a:ea typeface="Arial" pitchFamily="34" charset="-122"/>
                <a:cs typeface="Arial" pitchFamily="34" charset="-120"/>
              </a:rPr>
              <a:t>ONE ANALYST</a:t>
            </a:r>
            <a:endParaRPr lang="en-US" sz="1050" dirty="0"/>
          </a:p>
        </p:txBody>
      </p:sp>
      <p:sp>
        <p:nvSpPr>
          <p:cNvPr id="19" name="Text 17"/>
          <p:cNvSpPr txBox="1"/>
          <p:nvPr/>
        </p:nvSpPr>
        <p:spPr>
          <a:xfrm>
            <a:off x="9253728" y="4901184"/>
            <a:ext cx="2002536" cy="457200"/>
          </a:xfrm>
          <a:prstGeom prst="rect">
            <a:avLst/>
          </a:prstGeom>
          <a:noFill/>
          <a:ln/>
        </p:spPr>
        <p:txBody>
          <a:bodyPr wrap="square" lIns="0" tIns="0" rIns="0" bIns="0" rtlCol="0" anchor="t"/>
          <a:lstStyle/>
          <a:p>
            <a:pPr indent="0" marL="0">
              <a:buNone/>
            </a:pPr>
            <a:r>
              <a:rPr lang="en-US" sz="1200" dirty="0">
                <a:solidFill>
                  <a:srgbClr val="4A586E"/>
                </a:solidFill>
                <a:latin typeface="Arial" pitchFamily="34" charset="0"/>
                <a:ea typeface="Arial" pitchFamily="34" charset="-122"/>
                <a:cs typeface="Arial" pitchFamily="34" charset="-120"/>
              </a:rPr>
              <a:t>Limited time and attention</a:t>
            </a:r>
            <a:endParaRPr lang="en-US" sz="1200" dirty="0"/>
          </a:p>
        </p:txBody>
      </p:sp>
      <p:sp>
        <p:nvSpPr>
          <p:cNvPr id="20" name="Shape 18"/>
          <p:cNvSpPr/>
          <p:nvPr/>
        </p:nvSpPr>
        <p:spPr>
          <a:xfrm>
            <a:off x="932688" y="5376672"/>
            <a:ext cx="118872" cy="50292"/>
          </a:xfrm>
          <a:prstGeom prst="rect">
            <a:avLst/>
          </a:prstGeom>
          <a:solidFill>
            <a:srgbClr val="E0D4C0"/>
          </a:solidFill>
          <a:ln w="12700">
            <a:solidFill>
              <a:srgbClr val="E0D4C0"/>
            </a:solidFill>
            <a:prstDash val="solid"/>
          </a:ln>
        </p:spPr>
      </p:sp>
      <p:sp>
        <p:nvSpPr>
          <p:cNvPr id="21" name="Shape 19"/>
          <p:cNvSpPr/>
          <p:nvPr/>
        </p:nvSpPr>
        <p:spPr>
          <a:xfrm>
            <a:off x="1120140" y="5376672"/>
            <a:ext cx="118872" cy="50292"/>
          </a:xfrm>
          <a:prstGeom prst="rect">
            <a:avLst/>
          </a:prstGeom>
          <a:solidFill>
            <a:srgbClr val="E0D4C0"/>
          </a:solidFill>
          <a:ln w="12700">
            <a:solidFill>
              <a:srgbClr val="E0D4C0"/>
            </a:solidFill>
            <a:prstDash val="solid"/>
          </a:ln>
        </p:spPr>
      </p:sp>
      <p:sp>
        <p:nvSpPr>
          <p:cNvPr id="22" name="Shape 20"/>
          <p:cNvSpPr/>
          <p:nvPr/>
        </p:nvSpPr>
        <p:spPr>
          <a:xfrm>
            <a:off x="1307592" y="5376672"/>
            <a:ext cx="118872" cy="50292"/>
          </a:xfrm>
          <a:prstGeom prst="rect">
            <a:avLst/>
          </a:prstGeom>
          <a:solidFill>
            <a:srgbClr val="E0D4C0"/>
          </a:solidFill>
          <a:ln w="12700">
            <a:solidFill>
              <a:srgbClr val="E0D4C0"/>
            </a:solidFill>
            <a:prstDash val="solid"/>
          </a:ln>
        </p:spPr>
      </p:sp>
      <p:sp>
        <p:nvSpPr>
          <p:cNvPr id="23" name="Shape 21"/>
          <p:cNvSpPr/>
          <p:nvPr/>
        </p:nvSpPr>
        <p:spPr>
          <a:xfrm>
            <a:off x="1495044" y="5376672"/>
            <a:ext cx="118872" cy="50292"/>
          </a:xfrm>
          <a:prstGeom prst="rect">
            <a:avLst/>
          </a:prstGeom>
          <a:solidFill>
            <a:srgbClr val="E0D4C0"/>
          </a:solidFill>
          <a:ln w="12700">
            <a:solidFill>
              <a:srgbClr val="E0D4C0"/>
            </a:solidFill>
            <a:prstDash val="solid"/>
          </a:ln>
        </p:spPr>
      </p:sp>
      <p:sp>
        <p:nvSpPr>
          <p:cNvPr id="24" name="Shape 22"/>
          <p:cNvSpPr/>
          <p:nvPr/>
        </p:nvSpPr>
        <p:spPr>
          <a:xfrm>
            <a:off x="1682496" y="5376672"/>
            <a:ext cx="118872" cy="50292"/>
          </a:xfrm>
          <a:prstGeom prst="rect">
            <a:avLst/>
          </a:prstGeom>
          <a:solidFill>
            <a:srgbClr val="E0D4C0"/>
          </a:solidFill>
          <a:ln w="12700">
            <a:solidFill>
              <a:srgbClr val="E0D4C0"/>
            </a:solidFill>
            <a:prstDash val="solid"/>
          </a:ln>
        </p:spPr>
      </p:sp>
      <p:sp>
        <p:nvSpPr>
          <p:cNvPr id="25" name="Shape 23"/>
          <p:cNvSpPr/>
          <p:nvPr/>
        </p:nvSpPr>
        <p:spPr>
          <a:xfrm>
            <a:off x="1869948" y="5376672"/>
            <a:ext cx="118872" cy="50292"/>
          </a:xfrm>
          <a:prstGeom prst="rect">
            <a:avLst/>
          </a:prstGeom>
          <a:solidFill>
            <a:srgbClr val="E0D4C0"/>
          </a:solidFill>
          <a:ln w="12700">
            <a:solidFill>
              <a:srgbClr val="E0D4C0"/>
            </a:solidFill>
            <a:prstDash val="solid"/>
          </a:ln>
        </p:spPr>
      </p:sp>
      <p:sp>
        <p:nvSpPr>
          <p:cNvPr id="26" name="Shape 24"/>
          <p:cNvSpPr/>
          <p:nvPr/>
        </p:nvSpPr>
        <p:spPr>
          <a:xfrm>
            <a:off x="2057400" y="5376672"/>
            <a:ext cx="118872" cy="50292"/>
          </a:xfrm>
          <a:prstGeom prst="rect">
            <a:avLst/>
          </a:prstGeom>
          <a:solidFill>
            <a:srgbClr val="B58A42"/>
          </a:solidFill>
          <a:ln w="12700">
            <a:solidFill>
              <a:srgbClr val="B58A42"/>
            </a:solidFill>
            <a:prstDash val="solid"/>
          </a:ln>
        </p:spPr>
      </p:sp>
      <p:sp>
        <p:nvSpPr>
          <p:cNvPr id="27" name="Shape 25"/>
          <p:cNvSpPr/>
          <p:nvPr/>
        </p:nvSpPr>
        <p:spPr>
          <a:xfrm>
            <a:off x="2244852" y="5376672"/>
            <a:ext cx="118872" cy="50292"/>
          </a:xfrm>
          <a:prstGeom prst="rect">
            <a:avLst/>
          </a:prstGeom>
          <a:solidFill>
            <a:srgbClr val="E0D4C0"/>
          </a:solidFill>
          <a:ln w="12700">
            <a:solidFill>
              <a:srgbClr val="E0D4C0"/>
            </a:solidFill>
            <a:prstDash val="solid"/>
          </a:ln>
        </p:spPr>
      </p:sp>
      <p:sp>
        <p:nvSpPr>
          <p:cNvPr id="28" name="Shape 26"/>
          <p:cNvSpPr/>
          <p:nvPr/>
        </p:nvSpPr>
        <p:spPr>
          <a:xfrm>
            <a:off x="2432304" y="5376672"/>
            <a:ext cx="118872" cy="50292"/>
          </a:xfrm>
          <a:prstGeom prst="rect">
            <a:avLst/>
          </a:prstGeom>
          <a:solidFill>
            <a:srgbClr val="E0D4C0"/>
          </a:solidFill>
          <a:ln w="12700">
            <a:solidFill>
              <a:srgbClr val="E0D4C0"/>
            </a:solidFill>
            <a:prstDash val="solid"/>
          </a:ln>
        </p:spPr>
      </p:sp>
      <p:sp>
        <p:nvSpPr>
          <p:cNvPr id="29" name="Shape 27"/>
          <p:cNvSpPr/>
          <p:nvPr/>
        </p:nvSpPr>
        <p:spPr>
          <a:xfrm>
            <a:off x="2619756" y="5376672"/>
            <a:ext cx="118872" cy="50292"/>
          </a:xfrm>
          <a:prstGeom prst="rect">
            <a:avLst/>
          </a:prstGeom>
          <a:solidFill>
            <a:srgbClr val="E0D4C0"/>
          </a:solidFill>
          <a:ln w="12700">
            <a:solidFill>
              <a:srgbClr val="E0D4C0"/>
            </a:solidFill>
            <a:prstDash val="solid"/>
          </a:ln>
        </p:spPr>
      </p:sp>
      <p:sp>
        <p:nvSpPr>
          <p:cNvPr id="30" name="Shape 28"/>
          <p:cNvSpPr/>
          <p:nvPr/>
        </p:nvSpPr>
        <p:spPr>
          <a:xfrm>
            <a:off x="2807208" y="5376672"/>
            <a:ext cx="118872" cy="50292"/>
          </a:xfrm>
          <a:prstGeom prst="rect">
            <a:avLst/>
          </a:prstGeom>
          <a:solidFill>
            <a:srgbClr val="E0D4C0"/>
          </a:solidFill>
          <a:ln w="12700">
            <a:solidFill>
              <a:srgbClr val="E0D4C0"/>
            </a:solidFill>
            <a:prstDash val="solid"/>
          </a:ln>
        </p:spPr>
      </p:sp>
      <p:sp>
        <p:nvSpPr>
          <p:cNvPr id="31" name="Shape 29"/>
          <p:cNvSpPr/>
          <p:nvPr/>
        </p:nvSpPr>
        <p:spPr>
          <a:xfrm>
            <a:off x="2994660" y="5376672"/>
            <a:ext cx="118872" cy="50292"/>
          </a:xfrm>
          <a:prstGeom prst="rect">
            <a:avLst/>
          </a:prstGeom>
          <a:solidFill>
            <a:srgbClr val="E0D4C0"/>
          </a:solidFill>
          <a:ln w="12700">
            <a:solidFill>
              <a:srgbClr val="E0D4C0"/>
            </a:solidFill>
            <a:prstDash val="solid"/>
          </a:ln>
        </p:spPr>
      </p:sp>
      <p:sp>
        <p:nvSpPr>
          <p:cNvPr id="32" name="Shape 30"/>
          <p:cNvSpPr/>
          <p:nvPr/>
        </p:nvSpPr>
        <p:spPr>
          <a:xfrm>
            <a:off x="3182112" y="5376672"/>
            <a:ext cx="118872" cy="50292"/>
          </a:xfrm>
          <a:prstGeom prst="rect">
            <a:avLst/>
          </a:prstGeom>
          <a:solidFill>
            <a:srgbClr val="E0D4C0"/>
          </a:solidFill>
          <a:ln w="12700">
            <a:solidFill>
              <a:srgbClr val="E0D4C0"/>
            </a:solidFill>
            <a:prstDash val="solid"/>
          </a:ln>
        </p:spPr>
      </p:sp>
      <p:sp>
        <p:nvSpPr>
          <p:cNvPr id="33" name="Shape 31"/>
          <p:cNvSpPr/>
          <p:nvPr/>
        </p:nvSpPr>
        <p:spPr>
          <a:xfrm>
            <a:off x="3369564" y="5376672"/>
            <a:ext cx="118872" cy="50292"/>
          </a:xfrm>
          <a:prstGeom prst="rect">
            <a:avLst/>
          </a:prstGeom>
          <a:solidFill>
            <a:srgbClr val="E0D4C0"/>
          </a:solidFill>
          <a:ln w="12700">
            <a:solidFill>
              <a:srgbClr val="E0D4C0"/>
            </a:solidFill>
            <a:prstDash val="solid"/>
          </a:ln>
        </p:spPr>
      </p:sp>
      <p:sp>
        <p:nvSpPr>
          <p:cNvPr id="34" name="Shape 32"/>
          <p:cNvSpPr/>
          <p:nvPr/>
        </p:nvSpPr>
        <p:spPr>
          <a:xfrm>
            <a:off x="3557016" y="5376672"/>
            <a:ext cx="118872" cy="50292"/>
          </a:xfrm>
          <a:prstGeom prst="rect">
            <a:avLst/>
          </a:prstGeom>
          <a:solidFill>
            <a:srgbClr val="E0D4C0"/>
          </a:solidFill>
          <a:ln w="12700">
            <a:solidFill>
              <a:srgbClr val="E0D4C0"/>
            </a:solidFill>
            <a:prstDash val="solid"/>
          </a:ln>
        </p:spPr>
      </p:sp>
      <p:sp>
        <p:nvSpPr>
          <p:cNvPr id="35" name="Shape 33"/>
          <p:cNvSpPr/>
          <p:nvPr/>
        </p:nvSpPr>
        <p:spPr>
          <a:xfrm>
            <a:off x="3744468" y="5376672"/>
            <a:ext cx="118872" cy="50292"/>
          </a:xfrm>
          <a:prstGeom prst="rect">
            <a:avLst/>
          </a:prstGeom>
          <a:solidFill>
            <a:srgbClr val="B58A42"/>
          </a:solidFill>
          <a:ln w="12700">
            <a:solidFill>
              <a:srgbClr val="B58A42"/>
            </a:solidFill>
            <a:prstDash val="solid"/>
          </a:ln>
        </p:spPr>
      </p:sp>
      <p:sp>
        <p:nvSpPr>
          <p:cNvPr id="36" name="Shape 34"/>
          <p:cNvSpPr/>
          <p:nvPr/>
        </p:nvSpPr>
        <p:spPr>
          <a:xfrm>
            <a:off x="3931920" y="5376672"/>
            <a:ext cx="118872" cy="50292"/>
          </a:xfrm>
          <a:prstGeom prst="rect">
            <a:avLst/>
          </a:prstGeom>
          <a:solidFill>
            <a:srgbClr val="E0D4C0"/>
          </a:solidFill>
          <a:ln w="12700">
            <a:solidFill>
              <a:srgbClr val="E0D4C0"/>
            </a:solidFill>
            <a:prstDash val="solid"/>
          </a:ln>
        </p:spPr>
      </p:sp>
      <p:sp>
        <p:nvSpPr>
          <p:cNvPr id="37" name="Shape 35"/>
          <p:cNvSpPr/>
          <p:nvPr/>
        </p:nvSpPr>
        <p:spPr>
          <a:xfrm>
            <a:off x="4119372" y="5376672"/>
            <a:ext cx="118872" cy="50292"/>
          </a:xfrm>
          <a:prstGeom prst="rect">
            <a:avLst/>
          </a:prstGeom>
          <a:solidFill>
            <a:srgbClr val="E0D4C0"/>
          </a:solidFill>
          <a:ln w="12700">
            <a:solidFill>
              <a:srgbClr val="E0D4C0"/>
            </a:solidFill>
            <a:prstDash val="solid"/>
          </a:ln>
        </p:spPr>
      </p:sp>
      <p:sp>
        <p:nvSpPr>
          <p:cNvPr id="38" name="Shape 36"/>
          <p:cNvSpPr/>
          <p:nvPr/>
        </p:nvSpPr>
        <p:spPr>
          <a:xfrm>
            <a:off x="4306824" y="5376672"/>
            <a:ext cx="118872" cy="50292"/>
          </a:xfrm>
          <a:prstGeom prst="rect">
            <a:avLst/>
          </a:prstGeom>
          <a:solidFill>
            <a:srgbClr val="E0D4C0"/>
          </a:solidFill>
          <a:ln w="12700">
            <a:solidFill>
              <a:srgbClr val="E0D4C0"/>
            </a:solidFill>
            <a:prstDash val="solid"/>
          </a:ln>
        </p:spPr>
      </p:sp>
      <p:sp>
        <p:nvSpPr>
          <p:cNvPr id="39" name="Shape 37"/>
          <p:cNvSpPr/>
          <p:nvPr/>
        </p:nvSpPr>
        <p:spPr>
          <a:xfrm>
            <a:off x="4494276" y="5376672"/>
            <a:ext cx="118872" cy="50292"/>
          </a:xfrm>
          <a:prstGeom prst="rect">
            <a:avLst/>
          </a:prstGeom>
          <a:solidFill>
            <a:srgbClr val="E0D4C0"/>
          </a:solidFill>
          <a:ln w="12700">
            <a:solidFill>
              <a:srgbClr val="E0D4C0"/>
            </a:solidFill>
            <a:prstDash val="solid"/>
          </a:ln>
        </p:spPr>
      </p:sp>
      <p:sp>
        <p:nvSpPr>
          <p:cNvPr id="40" name="Shape 38"/>
          <p:cNvSpPr/>
          <p:nvPr/>
        </p:nvSpPr>
        <p:spPr>
          <a:xfrm>
            <a:off x="5550408" y="5376672"/>
            <a:ext cx="118872" cy="50292"/>
          </a:xfrm>
          <a:prstGeom prst="rect">
            <a:avLst/>
          </a:prstGeom>
          <a:solidFill>
            <a:srgbClr val="E0D4C0"/>
          </a:solidFill>
          <a:ln w="12700">
            <a:solidFill>
              <a:srgbClr val="E0D4C0"/>
            </a:solidFill>
            <a:prstDash val="solid"/>
          </a:ln>
        </p:spPr>
      </p:sp>
      <p:sp>
        <p:nvSpPr>
          <p:cNvPr id="41" name="Shape 39"/>
          <p:cNvSpPr/>
          <p:nvPr/>
        </p:nvSpPr>
        <p:spPr>
          <a:xfrm>
            <a:off x="6117336" y="5376672"/>
            <a:ext cx="118872" cy="50292"/>
          </a:xfrm>
          <a:prstGeom prst="rect">
            <a:avLst/>
          </a:prstGeom>
          <a:solidFill>
            <a:srgbClr val="B58A42"/>
          </a:solidFill>
          <a:ln w="12700">
            <a:solidFill>
              <a:srgbClr val="B58A42"/>
            </a:solidFill>
            <a:prstDash val="solid"/>
          </a:ln>
        </p:spPr>
      </p:sp>
      <p:sp>
        <p:nvSpPr>
          <p:cNvPr id="42" name="Shape 40"/>
          <p:cNvSpPr/>
          <p:nvPr/>
        </p:nvSpPr>
        <p:spPr>
          <a:xfrm>
            <a:off x="6684264" y="5376672"/>
            <a:ext cx="118872" cy="50292"/>
          </a:xfrm>
          <a:prstGeom prst="rect">
            <a:avLst/>
          </a:prstGeom>
          <a:solidFill>
            <a:srgbClr val="E0D4C0"/>
          </a:solidFill>
          <a:ln w="12700">
            <a:solidFill>
              <a:srgbClr val="E0D4C0"/>
            </a:solidFill>
            <a:prstDash val="solid"/>
          </a:ln>
        </p:spPr>
      </p:sp>
      <p:sp>
        <p:nvSpPr>
          <p:cNvPr id="43" name="Shape 41"/>
          <p:cNvSpPr/>
          <p:nvPr/>
        </p:nvSpPr>
        <p:spPr>
          <a:xfrm>
            <a:off x="7251192" y="5376672"/>
            <a:ext cx="118872" cy="50292"/>
          </a:xfrm>
          <a:prstGeom prst="rect">
            <a:avLst/>
          </a:prstGeom>
          <a:solidFill>
            <a:srgbClr val="B58A42"/>
          </a:solidFill>
          <a:ln w="12700">
            <a:solidFill>
              <a:srgbClr val="B58A42"/>
            </a:solidFill>
            <a:prstDash val="solid"/>
          </a:ln>
        </p:spPr>
      </p:sp>
      <p:sp>
        <p:nvSpPr>
          <p:cNvPr id="44" name="Shape 42"/>
          <p:cNvSpPr/>
          <p:nvPr/>
        </p:nvSpPr>
        <p:spPr>
          <a:xfrm>
            <a:off x="7818120" y="5376672"/>
            <a:ext cx="118872" cy="50292"/>
          </a:xfrm>
          <a:prstGeom prst="rect">
            <a:avLst/>
          </a:prstGeom>
          <a:solidFill>
            <a:srgbClr val="E0D4C0"/>
          </a:solidFill>
          <a:ln w="12700">
            <a:solidFill>
              <a:srgbClr val="E0D4C0"/>
            </a:solidFill>
            <a:prstDash val="solid"/>
          </a:ln>
        </p:spPr>
      </p:sp>
      <p:sp>
        <p:nvSpPr>
          <p:cNvPr id="45" name="Shape 43"/>
          <p:cNvSpPr/>
          <p:nvPr/>
        </p:nvSpPr>
        <p:spPr>
          <a:xfrm>
            <a:off x="4956048" y="4882896"/>
            <a:ext cx="329184" cy="292608"/>
          </a:xfrm>
          <a:prstGeom prst="chevron">
            <a:avLst/>
          </a:prstGeom>
          <a:solidFill>
            <a:srgbClr val="B58A42"/>
          </a:solidFill>
          <a:ln w="12700">
            <a:solidFill>
              <a:srgbClr val="B58A42"/>
            </a:solidFill>
            <a:prstDash val="solid"/>
          </a:ln>
        </p:spPr>
      </p:sp>
      <p:sp>
        <p:nvSpPr>
          <p:cNvPr id="46" name="Shape 44"/>
          <p:cNvSpPr/>
          <p:nvPr/>
        </p:nvSpPr>
        <p:spPr>
          <a:xfrm>
            <a:off x="8659368" y="4882896"/>
            <a:ext cx="329184" cy="292608"/>
          </a:xfrm>
          <a:prstGeom prst="chevron">
            <a:avLst/>
          </a:prstGeom>
          <a:solidFill>
            <a:srgbClr val="B58A42"/>
          </a:solidFill>
          <a:ln w="12700">
            <a:solidFill>
              <a:srgbClr val="B58A42"/>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365760" y="365760"/>
            <a:ext cx="11457432" cy="6126480"/>
          </a:xfrm>
          <a:prstGeom prst="rect">
            <a:avLst/>
          </a:prstGeom>
          <a:solidFill>
            <a:srgbClr val="FAF7F2"/>
          </a:solidFill>
          <a:ln w="12700">
            <a:solidFill>
              <a:srgbClr val="E0D4C0"/>
            </a:solidFill>
            <a:prstDash val="solid"/>
          </a:ln>
        </p:spPr>
      </p:sp>
      <p:sp>
        <p:nvSpPr>
          <p:cNvPr id="3" name="Text 1"/>
          <p:cNvSpPr txBox="1"/>
          <p:nvPr/>
        </p:nvSpPr>
        <p:spPr>
          <a:xfrm>
            <a:off x="731520" y="566928"/>
            <a:ext cx="8229600" cy="274320"/>
          </a:xfrm>
          <a:prstGeom prst="rect">
            <a:avLst/>
          </a:prstGeom>
          <a:noFill/>
          <a:ln/>
        </p:spPr>
        <p:txBody>
          <a:bodyPr wrap="square" lIns="0" tIns="0" rIns="0" bIns="0" rtlCol="0" anchor="ctr"/>
          <a:lstStyle/>
          <a:p>
            <a:pPr indent="0" marL="0">
              <a:buNone/>
            </a:pPr>
            <a:r>
              <a:rPr lang="en-US" sz="1200" b="1" spc="240" kern="0" dirty="0">
                <a:solidFill>
                  <a:srgbClr val="B58A42"/>
                </a:solidFill>
                <a:latin typeface="Arial" pitchFamily="34" charset="0"/>
                <a:ea typeface="Arial" pitchFamily="34" charset="-122"/>
                <a:cs typeface="Arial" pitchFamily="34" charset="-120"/>
              </a:rPr>
              <a:t>II. THE PROPOSED SOLUTION</a:t>
            </a:r>
            <a:endParaRPr lang="en-US" sz="1200" dirty="0"/>
          </a:p>
        </p:txBody>
      </p:sp>
      <p:sp>
        <p:nvSpPr>
          <p:cNvPr id="4" name="Text 2"/>
          <p:cNvSpPr txBox="1"/>
          <p:nvPr/>
        </p:nvSpPr>
        <p:spPr>
          <a:xfrm>
            <a:off x="731520" y="877824"/>
            <a:ext cx="10725912" cy="658368"/>
          </a:xfrm>
          <a:prstGeom prst="rect">
            <a:avLst/>
          </a:prstGeom>
          <a:noFill/>
          <a:ln/>
        </p:spPr>
        <p:txBody>
          <a:bodyPr wrap="square" lIns="0" tIns="0" rIns="0" bIns="0" rtlCol="0" anchor="ctr"/>
          <a:lstStyle/>
          <a:p>
            <a:pPr indent="0" marL="0">
              <a:buNone/>
            </a:pPr>
            <a:r>
              <a:rPr lang="en-US" sz="3000" b="1" dirty="0">
                <a:solidFill>
                  <a:srgbClr val="111E38"/>
                </a:solidFill>
                <a:latin typeface="Georgia" pitchFamily="34" charset="0"/>
                <a:ea typeface="Georgia" pitchFamily="34" charset="-122"/>
                <a:cs typeface="Georgia" pitchFamily="34" charset="-120"/>
              </a:rPr>
              <a:t>From Raw Traffic to Actionable Alerts</a:t>
            </a:r>
            <a:endParaRPr lang="en-US" sz="3000" dirty="0"/>
          </a:p>
        </p:txBody>
      </p:sp>
      <p:sp>
        <p:nvSpPr>
          <p:cNvPr id="5" name="Shape 3"/>
          <p:cNvSpPr/>
          <p:nvPr/>
        </p:nvSpPr>
        <p:spPr>
          <a:xfrm>
            <a:off x="731520" y="1645920"/>
            <a:ext cx="10725912" cy="18288"/>
          </a:xfrm>
          <a:prstGeom prst="rect">
            <a:avLst/>
          </a:prstGeom>
          <a:solidFill>
            <a:srgbClr val="B58A42"/>
          </a:solidFill>
          <a:ln w="12700">
            <a:solidFill>
              <a:srgbClr val="B58A42"/>
            </a:solidFill>
            <a:prstDash val="solid"/>
          </a:ln>
        </p:spPr>
      </p:sp>
      <p:sp>
        <p:nvSpPr>
          <p:cNvPr id="6" name="Text 4"/>
          <p:cNvSpPr txBox="1"/>
          <p:nvPr/>
        </p:nvSpPr>
        <p:spPr>
          <a:xfrm>
            <a:off x="731520" y="2057400"/>
            <a:ext cx="9692640" cy="365760"/>
          </a:xfrm>
          <a:prstGeom prst="rect">
            <a:avLst/>
          </a:prstGeom>
          <a:noFill/>
          <a:ln/>
        </p:spPr>
        <p:txBody>
          <a:bodyPr wrap="square" lIns="0" tIns="0" rIns="0" bIns="0" rtlCol="0" anchor="ctr"/>
          <a:lstStyle/>
          <a:p>
            <a:pPr indent="0" marL="0">
              <a:buNone/>
            </a:pPr>
            <a:r>
              <a:rPr lang="en-US" sz="1350" dirty="0">
                <a:solidFill>
                  <a:srgbClr val="4A586E"/>
                </a:solidFill>
                <a:latin typeface="Arial" pitchFamily="34" charset="0"/>
                <a:ea typeface="Arial" pitchFamily="34" charset="-122"/>
                <a:cs typeface="Arial" pitchFamily="34" charset="-120"/>
              </a:rPr>
              <a:t>We propose a lightweight pipeline that converts large volumes of raw network traffic into a much smaller set of contextualised, reviewable events.</a:t>
            </a:r>
            <a:endParaRPr lang="en-US" sz="1350" dirty="0"/>
          </a:p>
        </p:txBody>
      </p:sp>
      <p:sp>
        <p:nvSpPr>
          <p:cNvPr id="7" name="Shape 5"/>
          <p:cNvSpPr/>
          <p:nvPr/>
        </p:nvSpPr>
        <p:spPr>
          <a:xfrm>
            <a:off x="731520" y="2697480"/>
            <a:ext cx="1399032" cy="1188720"/>
          </a:xfrm>
          <a:prstGeom prst="rect">
            <a:avLst/>
          </a:prstGeom>
          <a:solidFill>
            <a:srgbClr val="FFFCF9"/>
          </a:solidFill>
          <a:ln w="9525">
            <a:solidFill>
              <a:srgbClr val="E0D4C0"/>
            </a:solidFill>
            <a:prstDash val="solid"/>
          </a:ln>
        </p:spPr>
      </p:sp>
      <p:sp>
        <p:nvSpPr>
          <p:cNvPr id="8" name="Text 6"/>
          <p:cNvSpPr txBox="1"/>
          <p:nvPr/>
        </p:nvSpPr>
        <p:spPr>
          <a:xfrm>
            <a:off x="731520" y="2843784"/>
            <a:ext cx="1399032" cy="237744"/>
          </a:xfrm>
          <a:prstGeom prst="rect">
            <a:avLst/>
          </a:prstGeom>
          <a:noFill/>
          <a:ln/>
        </p:spPr>
        <p:txBody>
          <a:bodyPr wrap="square" lIns="0" tIns="0" rIns="0" bIns="0" rtlCol="0" anchor="ctr"/>
          <a:lstStyle/>
          <a:p>
            <a:pPr algn="ctr" indent="0" marL="0">
              <a:buNone/>
            </a:pPr>
            <a:r>
              <a:rPr lang="en-US" sz="1100" b="1" spc="120" kern="0" dirty="0">
                <a:solidFill>
                  <a:srgbClr val="B58A42"/>
                </a:solidFill>
                <a:latin typeface="Georgia" pitchFamily="34" charset="0"/>
                <a:ea typeface="Georgia" pitchFamily="34" charset="-122"/>
                <a:cs typeface="Georgia" pitchFamily="34" charset="-120"/>
              </a:rPr>
              <a:t>I</a:t>
            </a:r>
            <a:endParaRPr lang="en-US" sz="1100" dirty="0"/>
          </a:p>
        </p:txBody>
      </p:sp>
      <p:sp>
        <p:nvSpPr>
          <p:cNvPr id="9" name="Text 7"/>
          <p:cNvSpPr txBox="1"/>
          <p:nvPr/>
        </p:nvSpPr>
        <p:spPr>
          <a:xfrm>
            <a:off x="786384" y="3136392"/>
            <a:ext cx="1289304" cy="658368"/>
          </a:xfrm>
          <a:prstGeom prst="rect">
            <a:avLst/>
          </a:prstGeom>
          <a:noFill/>
          <a:ln/>
        </p:spPr>
        <p:txBody>
          <a:bodyPr wrap="square" lIns="0" tIns="0" rIns="0" bIns="0" rtlCol="0" anchor="t"/>
          <a:lstStyle/>
          <a:p>
            <a:pPr algn="ctr" indent="0" marL="0">
              <a:lnSpc>
                <a:spcPct val="110000"/>
              </a:lnSpc>
              <a:buNone/>
            </a:pPr>
            <a:r>
              <a:rPr lang="en-US" sz="1150" b="1" dirty="0">
                <a:solidFill>
                  <a:srgbClr val="111E38"/>
                </a:solidFill>
                <a:latin typeface="Arial" pitchFamily="34" charset="0"/>
                <a:ea typeface="Arial" pitchFamily="34" charset="-122"/>
                <a:cs typeface="Arial" pitchFamily="34" charset="-120"/>
              </a:rPr>
              <a:t>Network Traffic</a:t>
            </a:r>
            <a:endParaRPr lang="en-US" sz="1150" dirty="0"/>
          </a:p>
          <a:p>
            <a:pPr algn="ctr" indent="0" marL="0">
              <a:lnSpc>
                <a:spcPct val="110000"/>
              </a:lnSpc>
              <a:buNone/>
            </a:pPr>
            <a:r>
              <a:rPr lang="en-US" sz="1150" b="1" dirty="0">
                <a:solidFill>
                  <a:srgbClr val="111E38"/>
                </a:solidFill>
                <a:latin typeface="Arial" pitchFamily="34" charset="0"/>
                <a:ea typeface="Arial" pitchFamily="34" charset="-122"/>
                <a:cs typeface="Arial" pitchFamily="34" charset="-120"/>
              </a:rPr>
              <a:t>/ PCAP</a:t>
            </a:r>
            <a:endParaRPr lang="en-US" sz="1150" dirty="0"/>
          </a:p>
        </p:txBody>
      </p:sp>
      <p:sp>
        <p:nvSpPr>
          <p:cNvPr id="10" name="Shape 8"/>
          <p:cNvSpPr/>
          <p:nvPr/>
        </p:nvSpPr>
        <p:spPr>
          <a:xfrm>
            <a:off x="2157984" y="3209544"/>
            <a:ext cx="100584" cy="164592"/>
          </a:xfrm>
          <a:prstGeom prst="chevron">
            <a:avLst/>
          </a:prstGeom>
          <a:solidFill>
            <a:srgbClr val="B58A42"/>
          </a:solidFill>
          <a:ln w="12700">
            <a:solidFill>
              <a:srgbClr val="B58A42"/>
            </a:solidFill>
            <a:prstDash val="solid"/>
          </a:ln>
        </p:spPr>
      </p:sp>
      <p:sp>
        <p:nvSpPr>
          <p:cNvPr id="11" name="Shape 9"/>
          <p:cNvSpPr/>
          <p:nvPr/>
        </p:nvSpPr>
        <p:spPr>
          <a:xfrm>
            <a:off x="2286000" y="2697480"/>
            <a:ext cx="1399032" cy="1188720"/>
          </a:xfrm>
          <a:prstGeom prst="rect">
            <a:avLst/>
          </a:prstGeom>
          <a:solidFill>
            <a:srgbClr val="FFFCF9"/>
          </a:solidFill>
          <a:ln w="9525">
            <a:solidFill>
              <a:srgbClr val="E0D4C0"/>
            </a:solidFill>
            <a:prstDash val="solid"/>
          </a:ln>
        </p:spPr>
      </p:sp>
      <p:sp>
        <p:nvSpPr>
          <p:cNvPr id="12" name="Text 10"/>
          <p:cNvSpPr txBox="1"/>
          <p:nvPr/>
        </p:nvSpPr>
        <p:spPr>
          <a:xfrm>
            <a:off x="2286000" y="2843784"/>
            <a:ext cx="1399032" cy="237744"/>
          </a:xfrm>
          <a:prstGeom prst="rect">
            <a:avLst/>
          </a:prstGeom>
          <a:noFill/>
          <a:ln/>
        </p:spPr>
        <p:txBody>
          <a:bodyPr wrap="square" lIns="0" tIns="0" rIns="0" bIns="0" rtlCol="0" anchor="ctr"/>
          <a:lstStyle/>
          <a:p>
            <a:pPr algn="ctr" indent="0" marL="0">
              <a:buNone/>
            </a:pPr>
            <a:r>
              <a:rPr lang="en-US" sz="1100" b="1" spc="120" kern="0" dirty="0">
                <a:solidFill>
                  <a:srgbClr val="B58A42"/>
                </a:solidFill>
                <a:latin typeface="Georgia" pitchFamily="34" charset="0"/>
                <a:ea typeface="Georgia" pitchFamily="34" charset="-122"/>
                <a:cs typeface="Georgia" pitchFamily="34" charset="-120"/>
              </a:rPr>
              <a:t>II</a:t>
            </a:r>
            <a:endParaRPr lang="en-US" sz="1100" dirty="0"/>
          </a:p>
        </p:txBody>
      </p:sp>
      <p:sp>
        <p:nvSpPr>
          <p:cNvPr id="13" name="Text 11"/>
          <p:cNvSpPr txBox="1"/>
          <p:nvPr/>
        </p:nvSpPr>
        <p:spPr>
          <a:xfrm>
            <a:off x="2340864" y="3136392"/>
            <a:ext cx="1289304" cy="658368"/>
          </a:xfrm>
          <a:prstGeom prst="rect">
            <a:avLst/>
          </a:prstGeom>
          <a:noFill/>
          <a:ln/>
        </p:spPr>
        <p:txBody>
          <a:bodyPr wrap="square" lIns="0" tIns="0" rIns="0" bIns="0" rtlCol="0" anchor="t"/>
          <a:lstStyle/>
          <a:p>
            <a:pPr algn="ctr" indent="0" marL="0">
              <a:lnSpc>
                <a:spcPct val="110000"/>
              </a:lnSpc>
              <a:buNone/>
            </a:pPr>
            <a:r>
              <a:rPr lang="en-US" sz="1150" b="1" dirty="0">
                <a:solidFill>
                  <a:srgbClr val="111E38"/>
                </a:solidFill>
                <a:latin typeface="Arial" pitchFamily="34" charset="0"/>
                <a:ea typeface="Arial" pitchFamily="34" charset="-122"/>
                <a:cs typeface="Arial" pitchFamily="34" charset="-120"/>
              </a:rPr>
              <a:t>Packet</a:t>
            </a:r>
            <a:endParaRPr lang="en-US" sz="1150" dirty="0"/>
          </a:p>
          <a:p>
            <a:pPr algn="ctr" indent="0" marL="0">
              <a:lnSpc>
                <a:spcPct val="110000"/>
              </a:lnSpc>
              <a:buNone/>
            </a:pPr>
            <a:r>
              <a:rPr lang="en-US" sz="1150" b="1" dirty="0">
                <a:solidFill>
                  <a:srgbClr val="111E38"/>
                </a:solidFill>
                <a:latin typeface="Arial" pitchFamily="34" charset="0"/>
                <a:ea typeface="Arial" pitchFamily="34" charset="-122"/>
                <a:cs typeface="Arial" pitchFamily="34" charset="-120"/>
              </a:rPr>
              <a:t>Parsing</a:t>
            </a:r>
            <a:endParaRPr lang="en-US" sz="1150" dirty="0"/>
          </a:p>
        </p:txBody>
      </p:sp>
      <p:sp>
        <p:nvSpPr>
          <p:cNvPr id="14" name="Shape 12"/>
          <p:cNvSpPr/>
          <p:nvPr/>
        </p:nvSpPr>
        <p:spPr>
          <a:xfrm>
            <a:off x="3712464" y="3209544"/>
            <a:ext cx="100584" cy="164592"/>
          </a:xfrm>
          <a:prstGeom prst="chevron">
            <a:avLst/>
          </a:prstGeom>
          <a:solidFill>
            <a:srgbClr val="B58A42"/>
          </a:solidFill>
          <a:ln w="12700">
            <a:solidFill>
              <a:srgbClr val="B58A42"/>
            </a:solidFill>
            <a:prstDash val="solid"/>
          </a:ln>
        </p:spPr>
      </p:sp>
      <p:sp>
        <p:nvSpPr>
          <p:cNvPr id="15" name="Shape 13"/>
          <p:cNvSpPr/>
          <p:nvPr/>
        </p:nvSpPr>
        <p:spPr>
          <a:xfrm>
            <a:off x="3840480" y="2697480"/>
            <a:ext cx="1399032" cy="1188720"/>
          </a:xfrm>
          <a:prstGeom prst="rect">
            <a:avLst/>
          </a:prstGeom>
          <a:solidFill>
            <a:srgbClr val="FFFCF9"/>
          </a:solidFill>
          <a:ln w="9525">
            <a:solidFill>
              <a:srgbClr val="E0D4C0"/>
            </a:solidFill>
            <a:prstDash val="solid"/>
          </a:ln>
        </p:spPr>
      </p:sp>
      <p:sp>
        <p:nvSpPr>
          <p:cNvPr id="16" name="Text 14"/>
          <p:cNvSpPr txBox="1"/>
          <p:nvPr/>
        </p:nvSpPr>
        <p:spPr>
          <a:xfrm>
            <a:off x="3840480" y="2843784"/>
            <a:ext cx="1399032" cy="237744"/>
          </a:xfrm>
          <a:prstGeom prst="rect">
            <a:avLst/>
          </a:prstGeom>
          <a:noFill/>
          <a:ln/>
        </p:spPr>
        <p:txBody>
          <a:bodyPr wrap="square" lIns="0" tIns="0" rIns="0" bIns="0" rtlCol="0" anchor="ctr"/>
          <a:lstStyle/>
          <a:p>
            <a:pPr algn="ctr" indent="0" marL="0">
              <a:buNone/>
            </a:pPr>
            <a:r>
              <a:rPr lang="en-US" sz="1100" b="1" spc="120" kern="0" dirty="0">
                <a:solidFill>
                  <a:srgbClr val="B58A42"/>
                </a:solidFill>
                <a:latin typeface="Georgia" pitchFamily="34" charset="0"/>
                <a:ea typeface="Georgia" pitchFamily="34" charset="-122"/>
                <a:cs typeface="Georgia" pitchFamily="34" charset="-120"/>
              </a:rPr>
              <a:t>III</a:t>
            </a:r>
            <a:endParaRPr lang="en-US" sz="1100" dirty="0"/>
          </a:p>
        </p:txBody>
      </p:sp>
      <p:sp>
        <p:nvSpPr>
          <p:cNvPr id="17" name="Text 15"/>
          <p:cNvSpPr txBox="1"/>
          <p:nvPr/>
        </p:nvSpPr>
        <p:spPr>
          <a:xfrm>
            <a:off x="3895344" y="3136392"/>
            <a:ext cx="1289304" cy="658368"/>
          </a:xfrm>
          <a:prstGeom prst="rect">
            <a:avLst/>
          </a:prstGeom>
          <a:noFill/>
          <a:ln/>
        </p:spPr>
        <p:txBody>
          <a:bodyPr wrap="square" lIns="0" tIns="0" rIns="0" bIns="0" rtlCol="0" anchor="t"/>
          <a:lstStyle/>
          <a:p>
            <a:pPr algn="ctr" indent="0" marL="0">
              <a:lnSpc>
                <a:spcPct val="110000"/>
              </a:lnSpc>
              <a:buNone/>
            </a:pPr>
            <a:r>
              <a:rPr lang="en-US" sz="1150" b="1" dirty="0">
                <a:solidFill>
                  <a:srgbClr val="111E38"/>
                </a:solidFill>
                <a:latin typeface="Arial" pitchFamily="34" charset="0"/>
                <a:ea typeface="Arial" pitchFamily="34" charset="-122"/>
                <a:cs typeface="Arial" pitchFamily="34" charset="-120"/>
              </a:rPr>
              <a:t>Threat</a:t>
            </a:r>
            <a:endParaRPr lang="en-US" sz="1150" dirty="0"/>
          </a:p>
          <a:p>
            <a:pPr algn="ctr" indent="0" marL="0">
              <a:lnSpc>
                <a:spcPct val="110000"/>
              </a:lnSpc>
              <a:buNone/>
            </a:pPr>
            <a:r>
              <a:rPr lang="en-US" sz="1150" b="1" dirty="0">
                <a:solidFill>
                  <a:srgbClr val="111E38"/>
                </a:solidFill>
                <a:latin typeface="Arial" pitchFamily="34" charset="0"/>
                <a:ea typeface="Arial" pitchFamily="34" charset="-122"/>
                <a:cs typeface="Arial" pitchFamily="34" charset="-120"/>
              </a:rPr>
              <a:t>Detection</a:t>
            </a:r>
            <a:endParaRPr lang="en-US" sz="1150" dirty="0"/>
          </a:p>
        </p:txBody>
      </p:sp>
      <p:sp>
        <p:nvSpPr>
          <p:cNvPr id="18" name="Shape 16"/>
          <p:cNvSpPr/>
          <p:nvPr/>
        </p:nvSpPr>
        <p:spPr>
          <a:xfrm>
            <a:off x="5266944" y="3209544"/>
            <a:ext cx="100584" cy="164592"/>
          </a:xfrm>
          <a:prstGeom prst="chevron">
            <a:avLst/>
          </a:prstGeom>
          <a:solidFill>
            <a:srgbClr val="B58A42"/>
          </a:solidFill>
          <a:ln w="12700">
            <a:solidFill>
              <a:srgbClr val="B58A42"/>
            </a:solidFill>
            <a:prstDash val="solid"/>
          </a:ln>
        </p:spPr>
      </p:sp>
      <p:sp>
        <p:nvSpPr>
          <p:cNvPr id="19" name="Shape 17"/>
          <p:cNvSpPr/>
          <p:nvPr/>
        </p:nvSpPr>
        <p:spPr>
          <a:xfrm>
            <a:off x="5394960" y="2697480"/>
            <a:ext cx="1399032" cy="1188720"/>
          </a:xfrm>
          <a:prstGeom prst="rect">
            <a:avLst/>
          </a:prstGeom>
          <a:solidFill>
            <a:srgbClr val="FFFCF9"/>
          </a:solidFill>
          <a:ln w="9525">
            <a:solidFill>
              <a:srgbClr val="E0D4C0"/>
            </a:solidFill>
            <a:prstDash val="solid"/>
          </a:ln>
        </p:spPr>
      </p:sp>
      <p:sp>
        <p:nvSpPr>
          <p:cNvPr id="20" name="Text 18"/>
          <p:cNvSpPr txBox="1"/>
          <p:nvPr/>
        </p:nvSpPr>
        <p:spPr>
          <a:xfrm>
            <a:off x="5394960" y="2843784"/>
            <a:ext cx="1399032" cy="237744"/>
          </a:xfrm>
          <a:prstGeom prst="rect">
            <a:avLst/>
          </a:prstGeom>
          <a:noFill/>
          <a:ln/>
        </p:spPr>
        <p:txBody>
          <a:bodyPr wrap="square" lIns="0" tIns="0" rIns="0" bIns="0" rtlCol="0" anchor="ctr"/>
          <a:lstStyle/>
          <a:p>
            <a:pPr algn="ctr" indent="0" marL="0">
              <a:buNone/>
            </a:pPr>
            <a:r>
              <a:rPr lang="en-US" sz="1100" b="1" spc="120" kern="0" dirty="0">
                <a:solidFill>
                  <a:srgbClr val="B58A42"/>
                </a:solidFill>
                <a:latin typeface="Georgia" pitchFamily="34" charset="0"/>
                <a:ea typeface="Georgia" pitchFamily="34" charset="-122"/>
                <a:cs typeface="Georgia" pitchFamily="34" charset="-120"/>
              </a:rPr>
              <a:t>IV</a:t>
            </a:r>
            <a:endParaRPr lang="en-US" sz="1100" dirty="0"/>
          </a:p>
        </p:txBody>
      </p:sp>
      <p:sp>
        <p:nvSpPr>
          <p:cNvPr id="21" name="Text 19"/>
          <p:cNvSpPr txBox="1"/>
          <p:nvPr/>
        </p:nvSpPr>
        <p:spPr>
          <a:xfrm>
            <a:off x="5449824" y="3136392"/>
            <a:ext cx="1289304" cy="658368"/>
          </a:xfrm>
          <a:prstGeom prst="rect">
            <a:avLst/>
          </a:prstGeom>
          <a:noFill/>
          <a:ln/>
        </p:spPr>
        <p:txBody>
          <a:bodyPr wrap="square" lIns="0" tIns="0" rIns="0" bIns="0" rtlCol="0" anchor="t"/>
          <a:lstStyle/>
          <a:p>
            <a:pPr algn="ctr" indent="0" marL="0">
              <a:lnSpc>
                <a:spcPct val="110000"/>
              </a:lnSpc>
              <a:buNone/>
            </a:pPr>
            <a:r>
              <a:rPr lang="en-US" sz="1150" b="1" dirty="0">
                <a:solidFill>
                  <a:srgbClr val="111E38"/>
                </a:solidFill>
                <a:latin typeface="Arial" pitchFamily="34" charset="0"/>
                <a:ea typeface="Arial" pitchFamily="34" charset="-122"/>
                <a:cs typeface="Arial" pitchFamily="34" charset="-120"/>
              </a:rPr>
              <a:t>MITRE ATT&amp;CK</a:t>
            </a:r>
            <a:endParaRPr lang="en-US" sz="1150" dirty="0"/>
          </a:p>
          <a:p>
            <a:pPr algn="ctr" indent="0" marL="0">
              <a:lnSpc>
                <a:spcPct val="110000"/>
              </a:lnSpc>
              <a:buNone/>
            </a:pPr>
            <a:r>
              <a:rPr lang="en-US" sz="1150" b="1" dirty="0">
                <a:solidFill>
                  <a:srgbClr val="111E38"/>
                </a:solidFill>
                <a:latin typeface="Arial" pitchFamily="34" charset="0"/>
                <a:ea typeface="Arial" pitchFamily="34" charset="-122"/>
                <a:cs typeface="Arial" pitchFamily="34" charset="-120"/>
              </a:rPr>
              <a:t>Mapping</a:t>
            </a:r>
            <a:endParaRPr lang="en-US" sz="1150" dirty="0"/>
          </a:p>
        </p:txBody>
      </p:sp>
      <p:sp>
        <p:nvSpPr>
          <p:cNvPr id="22" name="Shape 20"/>
          <p:cNvSpPr/>
          <p:nvPr/>
        </p:nvSpPr>
        <p:spPr>
          <a:xfrm>
            <a:off x="6821424" y="3209544"/>
            <a:ext cx="100584" cy="164592"/>
          </a:xfrm>
          <a:prstGeom prst="chevron">
            <a:avLst/>
          </a:prstGeom>
          <a:solidFill>
            <a:srgbClr val="B58A42"/>
          </a:solidFill>
          <a:ln w="12700">
            <a:solidFill>
              <a:srgbClr val="B58A42"/>
            </a:solidFill>
            <a:prstDash val="solid"/>
          </a:ln>
        </p:spPr>
      </p:sp>
      <p:sp>
        <p:nvSpPr>
          <p:cNvPr id="23" name="Shape 21"/>
          <p:cNvSpPr/>
          <p:nvPr/>
        </p:nvSpPr>
        <p:spPr>
          <a:xfrm>
            <a:off x="6949440" y="2697480"/>
            <a:ext cx="1399032" cy="1188720"/>
          </a:xfrm>
          <a:prstGeom prst="rect">
            <a:avLst/>
          </a:prstGeom>
          <a:solidFill>
            <a:srgbClr val="FFFCF9"/>
          </a:solidFill>
          <a:ln w="9525">
            <a:solidFill>
              <a:srgbClr val="E0D4C0"/>
            </a:solidFill>
            <a:prstDash val="solid"/>
          </a:ln>
        </p:spPr>
      </p:sp>
      <p:sp>
        <p:nvSpPr>
          <p:cNvPr id="24" name="Text 22"/>
          <p:cNvSpPr txBox="1"/>
          <p:nvPr/>
        </p:nvSpPr>
        <p:spPr>
          <a:xfrm>
            <a:off x="6949440" y="2843784"/>
            <a:ext cx="1399032" cy="237744"/>
          </a:xfrm>
          <a:prstGeom prst="rect">
            <a:avLst/>
          </a:prstGeom>
          <a:noFill/>
          <a:ln/>
        </p:spPr>
        <p:txBody>
          <a:bodyPr wrap="square" lIns="0" tIns="0" rIns="0" bIns="0" rtlCol="0" anchor="ctr"/>
          <a:lstStyle/>
          <a:p>
            <a:pPr algn="ctr" indent="0" marL="0">
              <a:buNone/>
            </a:pPr>
            <a:r>
              <a:rPr lang="en-US" sz="1100" b="1" spc="120" kern="0" dirty="0">
                <a:solidFill>
                  <a:srgbClr val="B58A42"/>
                </a:solidFill>
                <a:latin typeface="Georgia" pitchFamily="34" charset="0"/>
                <a:ea typeface="Georgia" pitchFamily="34" charset="-122"/>
                <a:cs typeface="Georgia" pitchFamily="34" charset="-120"/>
              </a:rPr>
              <a:t>V</a:t>
            </a:r>
            <a:endParaRPr lang="en-US" sz="1100" dirty="0"/>
          </a:p>
        </p:txBody>
      </p:sp>
      <p:sp>
        <p:nvSpPr>
          <p:cNvPr id="25" name="Text 23"/>
          <p:cNvSpPr txBox="1"/>
          <p:nvPr/>
        </p:nvSpPr>
        <p:spPr>
          <a:xfrm>
            <a:off x="7004304" y="3136392"/>
            <a:ext cx="1289304" cy="658368"/>
          </a:xfrm>
          <a:prstGeom prst="rect">
            <a:avLst/>
          </a:prstGeom>
          <a:noFill/>
          <a:ln/>
        </p:spPr>
        <p:txBody>
          <a:bodyPr wrap="square" lIns="0" tIns="0" rIns="0" bIns="0" rtlCol="0" anchor="t"/>
          <a:lstStyle/>
          <a:p>
            <a:pPr algn="ctr" indent="0" marL="0">
              <a:lnSpc>
                <a:spcPct val="110000"/>
              </a:lnSpc>
              <a:buNone/>
            </a:pPr>
            <a:r>
              <a:rPr lang="en-US" sz="1150" b="1" dirty="0">
                <a:solidFill>
                  <a:srgbClr val="111E38"/>
                </a:solidFill>
                <a:latin typeface="Arial" pitchFamily="34" charset="0"/>
                <a:ea typeface="Arial" pitchFamily="34" charset="-122"/>
                <a:cs typeface="Arial" pitchFamily="34" charset="-120"/>
              </a:rPr>
              <a:t>Threat Intel</a:t>
            </a:r>
            <a:endParaRPr lang="en-US" sz="1150" dirty="0"/>
          </a:p>
          <a:p>
            <a:pPr algn="ctr" indent="0" marL="0">
              <a:lnSpc>
                <a:spcPct val="110000"/>
              </a:lnSpc>
              <a:buNone/>
            </a:pPr>
            <a:r>
              <a:rPr lang="en-US" sz="1150" b="1" dirty="0">
                <a:solidFill>
                  <a:srgbClr val="111E38"/>
                </a:solidFill>
                <a:latin typeface="Arial" pitchFamily="34" charset="0"/>
                <a:ea typeface="Arial" pitchFamily="34" charset="-122"/>
                <a:cs typeface="Arial" pitchFamily="34" charset="-120"/>
              </a:rPr>
              <a:t>Enrichment</a:t>
            </a:r>
            <a:endParaRPr lang="en-US" sz="1150" dirty="0"/>
          </a:p>
        </p:txBody>
      </p:sp>
      <p:sp>
        <p:nvSpPr>
          <p:cNvPr id="26" name="Shape 24"/>
          <p:cNvSpPr/>
          <p:nvPr/>
        </p:nvSpPr>
        <p:spPr>
          <a:xfrm>
            <a:off x="8375904" y="3209544"/>
            <a:ext cx="100584" cy="164592"/>
          </a:xfrm>
          <a:prstGeom prst="chevron">
            <a:avLst/>
          </a:prstGeom>
          <a:solidFill>
            <a:srgbClr val="B58A42"/>
          </a:solidFill>
          <a:ln w="12700">
            <a:solidFill>
              <a:srgbClr val="B58A42"/>
            </a:solidFill>
            <a:prstDash val="solid"/>
          </a:ln>
        </p:spPr>
      </p:sp>
      <p:sp>
        <p:nvSpPr>
          <p:cNvPr id="27" name="Shape 25"/>
          <p:cNvSpPr/>
          <p:nvPr/>
        </p:nvSpPr>
        <p:spPr>
          <a:xfrm>
            <a:off x="8503920" y="2697480"/>
            <a:ext cx="1399032" cy="1188720"/>
          </a:xfrm>
          <a:prstGeom prst="rect">
            <a:avLst/>
          </a:prstGeom>
          <a:solidFill>
            <a:srgbClr val="FFFCF9"/>
          </a:solidFill>
          <a:ln w="9525">
            <a:solidFill>
              <a:srgbClr val="E0D4C0"/>
            </a:solidFill>
            <a:prstDash val="solid"/>
          </a:ln>
        </p:spPr>
      </p:sp>
      <p:sp>
        <p:nvSpPr>
          <p:cNvPr id="28" name="Text 26"/>
          <p:cNvSpPr txBox="1"/>
          <p:nvPr/>
        </p:nvSpPr>
        <p:spPr>
          <a:xfrm>
            <a:off x="8503920" y="2843784"/>
            <a:ext cx="1399032" cy="237744"/>
          </a:xfrm>
          <a:prstGeom prst="rect">
            <a:avLst/>
          </a:prstGeom>
          <a:noFill/>
          <a:ln/>
        </p:spPr>
        <p:txBody>
          <a:bodyPr wrap="square" lIns="0" tIns="0" rIns="0" bIns="0" rtlCol="0" anchor="ctr"/>
          <a:lstStyle/>
          <a:p>
            <a:pPr algn="ctr" indent="0" marL="0">
              <a:buNone/>
            </a:pPr>
            <a:r>
              <a:rPr lang="en-US" sz="1100" b="1" spc="120" kern="0" dirty="0">
                <a:solidFill>
                  <a:srgbClr val="B58A42"/>
                </a:solidFill>
                <a:latin typeface="Georgia" pitchFamily="34" charset="0"/>
                <a:ea typeface="Georgia" pitchFamily="34" charset="-122"/>
                <a:cs typeface="Georgia" pitchFamily="34" charset="-120"/>
              </a:rPr>
              <a:t>VI</a:t>
            </a:r>
            <a:endParaRPr lang="en-US" sz="1100" dirty="0"/>
          </a:p>
        </p:txBody>
      </p:sp>
      <p:sp>
        <p:nvSpPr>
          <p:cNvPr id="29" name="Text 27"/>
          <p:cNvSpPr txBox="1"/>
          <p:nvPr/>
        </p:nvSpPr>
        <p:spPr>
          <a:xfrm>
            <a:off x="8558784" y="3136392"/>
            <a:ext cx="1289304" cy="658368"/>
          </a:xfrm>
          <a:prstGeom prst="rect">
            <a:avLst/>
          </a:prstGeom>
          <a:noFill/>
          <a:ln/>
        </p:spPr>
        <p:txBody>
          <a:bodyPr wrap="square" lIns="0" tIns="0" rIns="0" bIns="0" rtlCol="0" anchor="t"/>
          <a:lstStyle/>
          <a:p>
            <a:pPr algn="ctr" indent="0" marL="0">
              <a:lnSpc>
                <a:spcPct val="110000"/>
              </a:lnSpc>
              <a:buNone/>
            </a:pPr>
            <a:r>
              <a:rPr lang="en-US" sz="1150" b="1" dirty="0">
                <a:solidFill>
                  <a:srgbClr val="111E38"/>
                </a:solidFill>
                <a:latin typeface="Arial" pitchFamily="34" charset="0"/>
                <a:ea typeface="Arial" pitchFamily="34" charset="-122"/>
                <a:cs typeface="Arial" pitchFamily="34" charset="-120"/>
              </a:rPr>
              <a:t>Interactive</a:t>
            </a:r>
            <a:endParaRPr lang="en-US" sz="1150" dirty="0"/>
          </a:p>
          <a:p>
            <a:pPr algn="ctr" indent="0" marL="0">
              <a:lnSpc>
                <a:spcPct val="110000"/>
              </a:lnSpc>
              <a:buNone/>
            </a:pPr>
            <a:r>
              <a:rPr lang="en-US" sz="1150" b="1" dirty="0">
                <a:solidFill>
                  <a:srgbClr val="111E38"/>
                </a:solidFill>
                <a:latin typeface="Arial" pitchFamily="34" charset="0"/>
                <a:ea typeface="Arial" pitchFamily="34" charset="-122"/>
                <a:cs typeface="Arial" pitchFamily="34" charset="-120"/>
              </a:rPr>
              <a:t>Dashboard</a:t>
            </a:r>
            <a:endParaRPr lang="en-US" sz="1150" dirty="0"/>
          </a:p>
        </p:txBody>
      </p:sp>
      <p:sp>
        <p:nvSpPr>
          <p:cNvPr id="30" name="Shape 28"/>
          <p:cNvSpPr/>
          <p:nvPr/>
        </p:nvSpPr>
        <p:spPr>
          <a:xfrm>
            <a:off x="9930384" y="3209544"/>
            <a:ext cx="100584" cy="164592"/>
          </a:xfrm>
          <a:prstGeom prst="chevron">
            <a:avLst/>
          </a:prstGeom>
          <a:solidFill>
            <a:srgbClr val="B58A42"/>
          </a:solidFill>
          <a:ln w="12700">
            <a:solidFill>
              <a:srgbClr val="B58A42"/>
            </a:solidFill>
            <a:prstDash val="solid"/>
          </a:ln>
        </p:spPr>
      </p:sp>
      <p:sp>
        <p:nvSpPr>
          <p:cNvPr id="31" name="Shape 29"/>
          <p:cNvSpPr/>
          <p:nvPr/>
        </p:nvSpPr>
        <p:spPr>
          <a:xfrm>
            <a:off x="10058400" y="2697480"/>
            <a:ext cx="1399032" cy="1188720"/>
          </a:xfrm>
          <a:prstGeom prst="rect">
            <a:avLst/>
          </a:prstGeom>
          <a:solidFill>
            <a:srgbClr val="FFFCF9"/>
          </a:solidFill>
          <a:ln w="12700">
            <a:solidFill>
              <a:srgbClr val="B58A42"/>
            </a:solidFill>
            <a:prstDash val="solid"/>
          </a:ln>
        </p:spPr>
      </p:sp>
      <p:sp>
        <p:nvSpPr>
          <p:cNvPr id="32" name="Text 30"/>
          <p:cNvSpPr txBox="1"/>
          <p:nvPr/>
        </p:nvSpPr>
        <p:spPr>
          <a:xfrm>
            <a:off x="10058400" y="2843784"/>
            <a:ext cx="1399032" cy="237744"/>
          </a:xfrm>
          <a:prstGeom prst="rect">
            <a:avLst/>
          </a:prstGeom>
          <a:noFill/>
          <a:ln/>
        </p:spPr>
        <p:txBody>
          <a:bodyPr wrap="square" lIns="0" tIns="0" rIns="0" bIns="0" rtlCol="0" anchor="ctr"/>
          <a:lstStyle/>
          <a:p>
            <a:pPr algn="ctr" indent="0" marL="0">
              <a:buNone/>
            </a:pPr>
            <a:r>
              <a:rPr lang="en-US" sz="1100" b="1" spc="120" kern="0" dirty="0">
                <a:solidFill>
                  <a:srgbClr val="B58A42"/>
                </a:solidFill>
                <a:latin typeface="Georgia" pitchFamily="34" charset="0"/>
                <a:ea typeface="Georgia" pitchFamily="34" charset="-122"/>
                <a:cs typeface="Georgia" pitchFamily="34" charset="-120"/>
              </a:rPr>
              <a:t>VII</a:t>
            </a:r>
            <a:endParaRPr lang="en-US" sz="1100" dirty="0"/>
          </a:p>
        </p:txBody>
      </p:sp>
      <p:sp>
        <p:nvSpPr>
          <p:cNvPr id="33" name="Text 31"/>
          <p:cNvSpPr txBox="1"/>
          <p:nvPr/>
        </p:nvSpPr>
        <p:spPr>
          <a:xfrm>
            <a:off x="10113264" y="3136392"/>
            <a:ext cx="1289304" cy="658368"/>
          </a:xfrm>
          <a:prstGeom prst="rect">
            <a:avLst/>
          </a:prstGeom>
          <a:noFill/>
          <a:ln/>
        </p:spPr>
        <p:txBody>
          <a:bodyPr wrap="square" lIns="0" tIns="0" rIns="0" bIns="0" rtlCol="0" anchor="t"/>
          <a:lstStyle/>
          <a:p>
            <a:pPr algn="ctr" indent="0" marL="0">
              <a:lnSpc>
                <a:spcPct val="110000"/>
              </a:lnSpc>
              <a:buNone/>
            </a:pPr>
            <a:r>
              <a:rPr lang="en-US" sz="1150" b="1" dirty="0">
                <a:solidFill>
                  <a:srgbClr val="111E38"/>
                </a:solidFill>
                <a:latin typeface="Arial" pitchFamily="34" charset="0"/>
                <a:ea typeface="Arial" pitchFamily="34" charset="-122"/>
                <a:cs typeface="Arial" pitchFamily="34" charset="-120"/>
              </a:rPr>
              <a:t>Human</a:t>
            </a:r>
            <a:endParaRPr lang="en-US" sz="1150" dirty="0"/>
          </a:p>
          <a:p>
            <a:pPr algn="ctr" indent="0" marL="0">
              <a:lnSpc>
                <a:spcPct val="110000"/>
              </a:lnSpc>
              <a:buNone/>
            </a:pPr>
            <a:r>
              <a:rPr lang="en-US" sz="1150" b="1" dirty="0">
                <a:solidFill>
                  <a:srgbClr val="111E38"/>
                </a:solidFill>
                <a:latin typeface="Arial" pitchFamily="34" charset="0"/>
                <a:ea typeface="Arial" pitchFamily="34" charset="-122"/>
                <a:cs typeface="Arial" pitchFamily="34" charset="-120"/>
              </a:rPr>
              <a:t>Review</a:t>
            </a:r>
            <a:endParaRPr lang="en-US" sz="1150" dirty="0"/>
          </a:p>
        </p:txBody>
      </p:sp>
      <p:sp>
        <p:nvSpPr>
          <p:cNvPr id="34" name="Shape 32"/>
          <p:cNvSpPr/>
          <p:nvPr/>
        </p:nvSpPr>
        <p:spPr>
          <a:xfrm>
            <a:off x="731520" y="4297680"/>
            <a:ext cx="10725912" cy="868680"/>
          </a:xfrm>
          <a:prstGeom prst="rect">
            <a:avLst/>
          </a:prstGeom>
          <a:solidFill>
            <a:srgbClr val="FFFCF9"/>
          </a:solidFill>
          <a:ln w="12700">
            <a:solidFill>
              <a:srgbClr val="B58A42"/>
            </a:solidFill>
            <a:prstDash val="solid"/>
          </a:ln>
        </p:spPr>
      </p:sp>
      <p:sp>
        <p:nvSpPr>
          <p:cNvPr id="35" name="Text 33"/>
          <p:cNvSpPr txBox="1"/>
          <p:nvPr/>
        </p:nvSpPr>
        <p:spPr>
          <a:xfrm>
            <a:off x="1097280" y="4297680"/>
            <a:ext cx="9994392" cy="868680"/>
          </a:xfrm>
          <a:prstGeom prst="rect">
            <a:avLst/>
          </a:prstGeom>
          <a:noFill/>
          <a:ln/>
        </p:spPr>
        <p:txBody>
          <a:bodyPr wrap="square" lIns="0" tIns="0" rIns="0" bIns="0" rtlCol="0" anchor="ctr"/>
          <a:lstStyle/>
          <a:p>
            <a:pPr algn="ctr" indent="0" marL="0">
              <a:buNone/>
            </a:pPr>
            <a:r>
              <a:rPr lang="en-US" sz="1550" i="1" dirty="0">
                <a:solidFill>
                  <a:srgbClr val="111E38"/>
                </a:solidFill>
                <a:latin typeface="Georgia" pitchFamily="34" charset="0"/>
                <a:ea typeface="Georgia" pitchFamily="34" charset="-122"/>
                <a:cs typeface="Georgia" pitchFamily="34" charset="-120"/>
              </a:rPr>
              <a:t>The goal is not to replace the analyst — it is to reduce the volume of data the analyst has to investigate manually.</a:t>
            </a:r>
            <a:endParaRPr lang="en-US" sz="1550" dirty="0"/>
          </a:p>
        </p:txBody>
      </p:sp>
      <p:sp>
        <p:nvSpPr>
          <p:cNvPr id="36" name="Text 34"/>
          <p:cNvSpPr txBox="1"/>
          <p:nvPr/>
        </p:nvSpPr>
        <p:spPr>
          <a:xfrm>
            <a:off x="731520" y="5440680"/>
            <a:ext cx="4572000" cy="237744"/>
          </a:xfrm>
          <a:prstGeom prst="rect">
            <a:avLst/>
          </a:prstGeom>
          <a:noFill/>
          <a:ln/>
        </p:spPr>
        <p:txBody>
          <a:bodyPr wrap="square" lIns="0" tIns="0" rIns="0" bIns="0" rtlCol="0" anchor="ctr"/>
          <a:lstStyle/>
          <a:p>
            <a:pPr algn="l" indent="0" marL="0">
              <a:buNone/>
            </a:pPr>
            <a:r>
              <a:rPr lang="en-US" sz="1050" b="1" spc="180" kern="0" dirty="0">
                <a:solidFill>
                  <a:srgbClr val="B58A42"/>
                </a:solidFill>
                <a:latin typeface="Arial" pitchFamily="34" charset="0"/>
                <a:ea typeface="Arial" pitchFamily="34" charset="-122"/>
                <a:cs typeface="Arial" pitchFamily="34" charset="-120"/>
              </a:rPr>
              <a:t>PLANNED TECHNOLOGY STACK</a:t>
            </a:r>
            <a:endParaRPr lang="en-US" sz="1050" dirty="0"/>
          </a:p>
        </p:txBody>
      </p:sp>
      <p:sp>
        <p:nvSpPr>
          <p:cNvPr id="37" name="Text 35"/>
          <p:cNvSpPr txBox="1"/>
          <p:nvPr/>
        </p:nvSpPr>
        <p:spPr>
          <a:xfrm>
            <a:off x="731520" y="5705856"/>
            <a:ext cx="10725912" cy="274320"/>
          </a:xfrm>
          <a:prstGeom prst="rect">
            <a:avLst/>
          </a:prstGeom>
          <a:noFill/>
          <a:ln/>
        </p:spPr>
        <p:txBody>
          <a:bodyPr wrap="square" lIns="0" tIns="0" rIns="0" bIns="0" rtlCol="0" anchor="ctr"/>
          <a:lstStyle/>
          <a:p>
            <a:pPr indent="0" marL="0">
              <a:buNone/>
            </a:pPr>
            <a:r>
              <a:rPr lang="en-US" sz="1150" dirty="0">
                <a:solidFill>
                  <a:srgbClr val="4A586E"/>
                </a:solidFill>
                <a:latin typeface="Arial" pitchFamily="34" charset="0"/>
                <a:ea typeface="Arial" pitchFamily="34" charset="-122"/>
                <a:cs typeface="Arial" pitchFamily="34" charset="-120"/>
              </a:rPr>
              <a:t>Python  ·  Scapy  ·  DuckDB  ·  Streamlit  ·  MITRE ATT&amp;CK  ·  AbuseIPDB  ·  VirusTotal  ·  MaxMind GeoLite2</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365760" y="365760"/>
            <a:ext cx="11457432" cy="6126480"/>
          </a:xfrm>
          <a:prstGeom prst="rect">
            <a:avLst/>
          </a:prstGeom>
          <a:solidFill>
            <a:srgbClr val="FAF7F2"/>
          </a:solidFill>
          <a:ln w="12700">
            <a:solidFill>
              <a:srgbClr val="E0D4C0"/>
            </a:solidFill>
            <a:prstDash val="solid"/>
          </a:ln>
        </p:spPr>
      </p:sp>
      <p:sp>
        <p:nvSpPr>
          <p:cNvPr id="3" name="Text 1"/>
          <p:cNvSpPr txBox="1"/>
          <p:nvPr/>
        </p:nvSpPr>
        <p:spPr>
          <a:xfrm>
            <a:off x="731520" y="566928"/>
            <a:ext cx="8229600" cy="274320"/>
          </a:xfrm>
          <a:prstGeom prst="rect">
            <a:avLst/>
          </a:prstGeom>
          <a:noFill/>
          <a:ln/>
        </p:spPr>
        <p:txBody>
          <a:bodyPr wrap="square" lIns="0" tIns="0" rIns="0" bIns="0" rtlCol="0" anchor="ctr"/>
          <a:lstStyle/>
          <a:p>
            <a:pPr indent="0" marL="0">
              <a:buNone/>
            </a:pPr>
            <a:r>
              <a:rPr lang="en-US" sz="1200" b="1" spc="240" kern="0" dirty="0">
                <a:solidFill>
                  <a:srgbClr val="B58A42"/>
                </a:solidFill>
                <a:latin typeface="Arial" pitchFamily="34" charset="0"/>
                <a:ea typeface="Arial" pitchFamily="34" charset="-122"/>
                <a:cs typeface="Arial" pitchFamily="34" charset="-120"/>
              </a:rPr>
              <a:t>III. OBJECTIVE I</a:t>
            </a:r>
            <a:endParaRPr lang="en-US" sz="1200" dirty="0"/>
          </a:p>
        </p:txBody>
      </p:sp>
      <p:sp>
        <p:nvSpPr>
          <p:cNvPr id="4" name="Text 2"/>
          <p:cNvSpPr txBox="1"/>
          <p:nvPr/>
        </p:nvSpPr>
        <p:spPr>
          <a:xfrm>
            <a:off x="731520" y="877824"/>
            <a:ext cx="10725912" cy="658368"/>
          </a:xfrm>
          <a:prstGeom prst="rect">
            <a:avLst/>
          </a:prstGeom>
          <a:noFill/>
          <a:ln/>
        </p:spPr>
        <p:txBody>
          <a:bodyPr wrap="square" lIns="0" tIns="0" rIns="0" bIns="0" rtlCol="0" anchor="ctr"/>
          <a:lstStyle/>
          <a:p>
            <a:pPr indent="0" marL="0">
              <a:buNone/>
            </a:pPr>
            <a:r>
              <a:rPr lang="en-US" sz="3000" b="1" dirty="0">
                <a:solidFill>
                  <a:srgbClr val="111E38"/>
                </a:solidFill>
                <a:latin typeface="Georgia" pitchFamily="34" charset="0"/>
                <a:ea typeface="Georgia" pitchFamily="34" charset="-122"/>
                <a:cs typeface="Georgia" pitchFamily="34" charset="-120"/>
              </a:rPr>
              <a:t>Build the Detection Pipeline</a:t>
            </a:r>
            <a:endParaRPr lang="en-US" sz="3000" dirty="0"/>
          </a:p>
        </p:txBody>
      </p:sp>
      <p:sp>
        <p:nvSpPr>
          <p:cNvPr id="5" name="Shape 3"/>
          <p:cNvSpPr/>
          <p:nvPr/>
        </p:nvSpPr>
        <p:spPr>
          <a:xfrm>
            <a:off x="731520" y="1645920"/>
            <a:ext cx="10725912" cy="18288"/>
          </a:xfrm>
          <a:prstGeom prst="rect">
            <a:avLst/>
          </a:prstGeom>
          <a:solidFill>
            <a:srgbClr val="B58A42"/>
          </a:solidFill>
          <a:ln w="12700">
            <a:solidFill>
              <a:srgbClr val="B58A42"/>
            </a:solidFill>
            <a:prstDash val="solid"/>
          </a:ln>
        </p:spPr>
      </p:sp>
      <p:sp>
        <p:nvSpPr>
          <p:cNvPr id="6" name="Text 4"/>
          <p:cNvSpPr txBox="1"/>
          <p:nvPr/>
        </p:nvSpPr>
        <p:spPr>
          <a:xfrm>
            <a:off x="731520" y="2057400"/>
            <a:ext cx="6309360" cy="777240"/>
          </a:xfrm>
          <a:prstGeom prst="rect">
            <a:avLst/>
          </a:prstGeom>
          <a:noFill/>
          <a:ln/>
        </p:spPr>
        <p:txBody>
          <a:bodyPr wrap="square" lIns="0" tIns="0" rIns="0" bIns="0" rtlCol="0" anchor="t"/>
          <a:lstStyle/>
          <a:p>
            <a:pPr indent="0" marL="0">
              <a:lnSpc>
                <a:spcPct val="115000"/>
              </a:lnSpc>
              <a:buNone/>
            </a:pPr>
            <a:r>
              <a:rPr lang="en-US" sz="1400" dirty="0">
                <a:solidFill>
                  <a:srgbClr val="111E38"/>
                </a:solidFill>
                <a:latin typeface="Arial" pitchFamily="34" charset="0"/>
                <a:ea typeface="Arial" pitchFamily="34" charset="-122"/>
                <a:cs typeface="Arial" pitchFamily="34" charset="-120"/>
              </a:rPr>
              <a:t>We aim to design a functional pipeline that converts raw PCAP or live network traffic into structured records and automatically identifies common suspicious network behaviour.</a:t>
            </a:r>
            <a:endParaRPr lang="en-US" sz="1400" dirty="0"/>
          </a:p>
        </p:txBody>
      </p:sp>
      <p:sp>
        <p:nvSpPr>
          <p:cNvPr id="7" name="Text 5"/>
          <p:cNvSpPr txBox="1"/>
          <p:nvPr/>
        </p:nvSpPr>
        <p:spPr>
          <a:xfrm>
            <a:off x="731520" y="3035808"/>
            <a:ext cx="4572000" cy="237744"/>
          </a:xfrm>
          <a:prstGeom prst="rect">
            <a:avLst/>
          </a:prstGeom>
          <a:noFill/>
          <a:ln/>
        </p:spPr>
        <p:txBody>
          <a:bodyPr wrap="square" lIns="0" tIns="0" rIns="0" bIns="0" rtlCol="0" anchor="ctr"/>
          <a:lstStyle/>
          <a:p>
            <a:pPr algn="l" indent="0" marL="0">
              <a:buNone/>
            </a:pPr>
            <a:r>
              <a:rPr lang="en-US" sz="1050" b="1" spc="180" kern="0" dirty="0">
                <a:solidFill>
                  <a:srgbClr val="B58A42"/>
                </a:solidFill>
                <a:latin typeface="Arial" pitchFamily="34" charset="0"/>
                <a:ea typeface="Arial" pitchFamily="34" charset="-122"/>
                <a:cs typeface="Arial" pitchFamily="34" charset="-120"/>
              </a:rPr>
              <a:t>PLANNED DETECTION CATEGORIES</a:t>
            </a:r>
            <a:endParaRPr lang="en-US" sz="1050" dirty="0"/>
          </a:p>
        </p:txBody>
      </p:sp>
      <p:sp>
        <p:nvSpPr>
          <p:cNvPr id="8" name="Shape 6"/>
          <p:cNvSpPr/>
          <p:nvPr/>
        </p:nvSpPr>
        <p:spPr>
          <a:xfrm>
            <a:off x="731520" y="3310128"/>
            <a:ext cx="6309360" cy="10973"/>
          </a:xfrm>
          <a:prstGeom prst="rect">
            <a:avLst/>
          </a:prstGeom>
          <a:solidFill>
            <a:srgbClr val="E0D4C0"/>
          </a:solidFill>
          <a:ln w="12700">
            <a:solidFill>
              <a:srgbClr val="E0D4C0"/>
            </a:solidFill>
            <a:prstDash val="solid"/>
          </a:ln>
        </p:spPr>
      </p:sp>
      <p:sp>
        <p:nvSpPr>
          <p:cNvPr id="9" name="Text 7"/>
          <p:cNvSpPr txBox="1"/>
          <p:nvPr/>
        </p:nvSpPr>
        <p:spPr>
          <a:xfrm>
            <a:off x="731520" y="3493008"/>
            <a:ext cx="3017520" cy="310896"/>
          </a:xfrm>
          <a:prstGeom prst="rect">
            <a:avLst/>
          </a:prstGeom>
          <a:noFill/>
          <a:ln/>
        </p:spPr>
        <p:txBody>
          <a:bodyPr wrap="square" lIns="0" tIns="0" rIns="0" bIns="0" rtlCol="0" anchor="ctr"/>
          <a:lstStyle/>
          <a:p>
            <a:pPr indent="0" marL="0">
              <a:buNone/>
            </a:pPr>
            <a:r>
              <a:rPr lang="en-US" sz="1250" b="1" dirty="0">
                <a:solidFill>
                  <a:srgbClr val="B58A42"/>
                </a:solidFill>
                <a:latin typeface="Georgia" pitchFamily="34" charset="0"/>
                <a:ea typeface="Georgia" pitchFamily="34" charset="-122"/>
                <a:cs typeface="Georgia" pitchFamily="34" charset="-120"/>
              </a:rPr>
              <a:t>♦   </a:t>
            </a:r>
            <a:pPr indent="0" marL="0">
              <a:buNone/>
            </a:pPr>
            <a:r>
              <a:rPr lang="en-US" sz="1400" dirty="0">
                <a:solidFill>
                  <a:srgbClr val="111E38"/>
                </a:solidFill>
                <a:latin typeface="Arial" pitchFamily="34" charset="0"/>
                <a:ea typeface="Arial" pitchFamily="34" charset="-122"/>
                <a:cs typeface="Arial" pitchFamily="34" charset="-120"/>
              </a:rPr>
              <a:t>Port Scanning</a:t>
            </a:r>
            <a:endParaRPr lang="en-US" sz="1250" dirty="0"/>
          </a:p>
        </p:txBody>
      </p:sp>
      <p:sp>
        <p:nvSpPr>
          <p:cNvPr id="10" name="Text 8"/>
          <p:cNvSpPr txBox="1"/>
          <p:nvPr/>
        </p:nvSpPr>
        <p:spPr>
          <a:xfrm>
            <a:off x="3977640" y="3493008"/>
            <a:ext cx="3017520" cy="310896"/>
          </a:xfrm>
          <a:prstGeom prst="rect">
            <a:avLst/>
          </a:prstGeom>
          <a:noFill/>
          <a:ln/>
        </p:spPr>
        <p:txBody>
          <a:bodyPr wrap="square" lIns="0" tIns="0" rIns="0" bIns="0" rtlCol="0" anchor="ctr"/>
          <a:lstStyle/>
          <a:p>
            <a:pPr indent="0" marL="0">
              <a:buNone/>
            </a:pPr>
            <a:r>
              <a:rPr lang="en-US" sz="1250" b="1" dirty="0">
                <a:solidFill>
                  <a:srgbClr val="B58A42"/>
                </a:solidFill>
                <a:latin typeface="Georgia" pitchFamily="34" charset="0"/>
                <a:ea typeface="Georgia" pitchFamily="34" charset="-122"/>
                <a:cs typeface="Georgia" pitchFamily="34" charset="-120"/>
              </a:rPr>
              <a:t>♦   </a:t>
            </a:r>
            <a:pPr indent="0" marL="0">
              <a:buNone/>
            </a:pPr>
            <a:r>
              <a:rPr lang="en-US" sz="1400" dirty="0">
                <a:solidFill>
                  <a:srgbClr val="111E38"/>
                </a:solidFill>
                <a:latin typeface="Arial" pitchFamily="34" charset="0"/>
                <a:ea typeface="Arial" pitchFamily="34" charset="-122"/>
                <a:cs typeface="Arial" pitchFamily="34" charset="-120"/>
              </a:rPr>
              <a:t>SYN Flooding</a:t>
            </a:r>
            <a:endParaRPr lang="en-US" sz="1250" dirty="0"/>
          </a:p>
        </p:txBody>
      </p:sp>
      <p:sp>
        <p:nvSpPr>
          <p:cNvPr id="11" name="Text 9"/>
          <p:cNvSpPr txBox="1"/>
          <p:nvPr/>
        </p:nvSpPr>
        <p:spPr>
          <a:xfrm>
            <a:off x="731520" y="4005072"/>
            <a:ext cx="3017520" cy="310896"/>
          </a:xfrm>
          <a:prstGeom prst="rect">
            <a:avLst/>
          </a:prstGeom>
          <a:noFill/>
          <a:ln/>
        </p:spPr>
        <p:txBody>
          <a:bodyPr wrap="square" lIns="0" tIns="0" rIns="0" bIns="0" rtlCol="0" anchor="ctr"/>
          <a:lstStyle/>
          <a:p>
            <a:pPr indent="0" marL="0">
              <a:buNone/>
            </a:pPr>
            <a:r>
              <a:rPr lang="en-US" sz="1250" b="1" dirty="0">
                <a:solidFill>
                  <a:srgbClr val="B58A42"/>
                </a:solidFill>
                <a:latin typeface="Georgia" pitchFamily="34" charset="0"/>
                <a:ea typeface="Georgia" pitchFamily="34" charset="-122"/>
                <a:cs typeface="Georgia" pitchFamily="34" charset="-120"/>
              </a:rPr>
              <a:t>♦   </a:t>
            </a:r>
            <a:pPr indent="0" marL="0">
              <a:buNone/>
            </a:pPr>
            <a:r>
              <a:rPr lang="en-US" sz="1400" dirty="0">
                <a:solidFill>
                  <a:srgbClr val="111E38"/>
                </a:solidFill>
                <a:latin typeface="Arial" pitchFamily="34" charset="0"/>
                <a:ea typeface="Arial" pitchFamily="34" charset="-122"/>
                <a:cs typeface="Arial" pitchFamily="34" charset="-120"/>
              </a:rPr>
              <a:t>ARP Spoofing</a:t>
            </a:r>
            <a:endParaRPr lang="en-US" sz="1250" dirty="0"/>
          </a:p>
        </p:txBody>
      </p:sp>
      <p:sp>
        <p:nvSpPr>
          <p:cNvPr id="12" name="Text 10"/>
          <p:cNvSpPr txBox="1"/>
          <p:nvPr/>
        </p:nvSpPr>
        <p:spPr>
          <a:xfrm>
            <a:off x="3977640" y="4005072"/>
            <a:ext cx="3017520" cy="310896"/>
          </a:xfrm>
          <a:prstGeom prst="rect">
            <a:avLst/>
          </a:prstGeom>
          <a:noFill/>
          <a:ln/>
        </p:spPr>
        <p:txBody>
          <a:bodyPr wrap="square" lIns="0" tIns="0" rIns="0" bIns="0" rtlCol="0" anchor="ctr"/>
          <a:lstStyle/>
          <a:p>
            <a:pPr indent="0" marL="0">
              <a:buNone/>
            </a:pPr>
            <a:r>
              <a:rPr lang="en-US" sz="1250" b="1" dirty="0">
                <a:solidFill>
                  <a:srgbClr val="B58A42"/>
                </a:solidFill>
                <a:latin typeface="Georgia" pitchFamily="34" charset="0"/>
                <a:ea typeface="Georgia" pitchFamily="34" charset="-122"/>
                <a:cs typeface="Georgia" pitchFamily="34" charset="-120"/>
              </a:rPr>
              <a:t>♦   </a:t>
            </a:r>
            <a:pPr indent="0" marL="0">
              <a:buNone/>
            </a:pPr>
            <a:r>
              <a:rPr lang="en-US" sz="1400" dirty="0">
                <a:solidFill>
                  <a:srgbClr val="111E38"/>
                </a:solidFill>
                <a:latin typeface="Arial" pitchFamily="34" charset="0"/>
                <a:ea typeface="Arial" pitchFamily="34" charset="-122"/>
                <a:cs typeface="Arial" pitchFamily="34" charset="-120"/>
              </a:rPr>
              <a:t>DNS Tunneling</a:t>
            </a:r>
            <a:endParaRPr lang="en-US" sz="1250" dirty="0"/>
          </a:p>
        </p:txBody>
      </p:sp>
      <p:sp>
        <p:nvSpPr>
          <p:cNvPr id="13" name="Text 11"/>
          <p:cNvSpPr txBox="1"/>
          <p:nvPr/>
        </p:nvSpPr>
        <p:spPr>
          <a:xfrm>
            <a:off x="731520" y="4517136"/>
            <a:ext cx="3017520" cy="310896"/>
          </a:xfrm>
          <a:prstGeom prst="rect">
            <a:avLst/>
          </a:prstGeom>
          <a:noFill/>
          <a:ln/>
        </p:spPr>
        <p:txBody>
          <a:bodyPr wrap="square" lIns="0" tIns="0" rIns="0" bIns="0" rtlCol="0" anchor="ctr"/>
          <a:lstStyle/>
          <a:p>
            <a:pPr indent="0" marL="0">
              <a:buNone/>
            </a:pPr>
            <a:r>
              <a:rPr lang="en-US" sz="1250" b="1" dirty="0">
                <a:solidFill>
                  <a:srgbClr val="B58A42"/>
                </a:solidFill>
                <a:latin typeface="Georgia" pitchFamily="34" charset="0"/>
                <a:ea typeface="Georgia" pitchFamily="34" charset="-122"/>
                <a:cs typeface="Georgia" pitchFamily="34" charset="-120"/>
              </a:rPr>
              <a:t>♦   </a:t>
            </a:r>
            <a:pPr indent="0" marL="0">
              <a:buNone/>
            </a:pPr>
            <a:r>
              <a:rPr lang="en-US" sz="1400" dirty="0">
                <a:solidFill>
                  <a:srgbClr val="111E38"/>
                </a:solidFill>
                <a:latin typeface="Arial" pitchFamily="34" charset="0"/>
                <a:ea typeface="Arial" pitchFamily="34" charset="-122"/>
                <a:cs typeface="Arial" pitchFamily="34" charset="-120"/>
              </a:rPr>
              <a:t>ICMP Flooding</a:t>
            </a:r>
            <a:endParaRPr lang="en-US" sz="1250" dirty="0"/>
          </a:p>
        </p:txBody>
      </p:sp>
      <p:sp>
        <p:nvSpPr>
          <p:cNvPr id="14" name="Text 12"/>
          <p:cNvSpPr txBox="1"/>
          <p:nvPr/>
        </p:nvSpPr>
        <p:spPr>
          <a:xfrm>
            <a:off x="3977640" y="4517136"/>
            <a:ext cx="3017520" cy="310896"/>
          </a:xfrm>
          <a:prstGeom prst="rect">
            <a:avLst/>
          </a:prstGeom>
          <a:noFill/>
          <a:ln/>
        </p:spPr>
        <p:txBody>
          <a:bodyPr wrap="square" lIns="0" tIns="0" rIns="0" bIns="0" rtlCol="0" anchor="ctr"/>
          <a:lstStyle/>
          <a:p>
            <a:pPr indent="0" marL="0">
              <a:buNone/>
            </a:pPr>
            <a:r>
              <a:rPr lang="en-US" sz="1250" b="1" dirty="0">
                <a:solidFill>
                  <a:srgbClr val="B58A42"/>
                </a:solidFill>
                <a:latin typeface="Georgia" pitchFamily="34" charset="0"/>
                <a:ea typeface="Georgia" pitchFamily="34" charset="-122"/>
                <a:cs typeface="Georgia" pitchFamily="34" charset="-120"/>
              </a:rPr>
              <a:t>♦   </a:t>
            </a:r>
            <a:pPr indent="0" marL="0">
              <a:buNone/>
            </a:pPr>
            <a:r>
              <a:rPr lang="en-US" sz="1400" dirty="0">
                <a:solidFill>
                  <a:srgbClr val="111E38"/>
                </a:solidFill>
                <a:latin typeface="Arial" pitchFamily="34" charset="0"/>
                <a:ea typeface="Arial" pitchFamily="34" charset="-122"/>
                <a:cs typeface="Arial" pitchFamily="34" charset="-120"/>
              </a:rPr>
              <a:t>Malformed TCP Flags</a:t>
            </a:r>
            <a:endParaRPr lang="en-US" sz="1250" dirty="0"/>
          </a:p>
        </p:txBody>
      </p:sp>
      <p:sp>
        <p:nvSpPr>
          <p:cNvPr id="15" name="Text 13"/>
          <p:cNvSpPr txBox="1"/>
          <p:nvPr/>
        </p:nvSpPr>
        <p:spPr>
          <a:xfrm>
            <a:off x="731520" y="5138928"/>
            <a:ext cx="6309360" cy="292608"/>
          </a:xfrm>
          <a:prstGeom prst="rect">
            <a:avLst/>
          </a:prstGeom>
          <a:noFill/>
          <a:ln/>
        </p:spPr>
        <p:txBody>
          <a:bodyPr wrap="square" lIns="0" tIns="0" rIns="0" bIns="0" rtlCol="0" anchor="ctr"/>
          <a:lstStyle/>
          <a:p>
            <a:pPr indent="0" marL="0">
              <a:buNone/>
            </a:pPr>
            <a:r>
              <a:rPr lang="en-US" sz="1150" i="1" dirty="0">
                <a:solidFill>
                  <a:srgbClr val="4A586E"/>
                </a:solidFill>
                <a:latin typeface="Arial" pitchFamily="34" charset="0"/>
                <a:ea typeface="Arial" pitchFamily="34" charset="-122"/>
                <a:cs typeface="Arial" pitchFamily="34" charset="-120"/>
              </a:rPr>
              <a:t>Six rule-based signatures, each targeting a well-documented network behaviour.</a:t>
            </a:r>
            <a:endParaRPr lang="en-US" sz="1150" dirty="0"/>
          </a:p>
        </p:txBody>
      </p:sp>
      <p:sp>
        <p:nvSpPr>
          <p:cNvPr id="16" name="Shape 14"/>
          <p:cNvSpPr/>
          <p:nvPr/>
        </p:nvSpPr>
        <p:spPr>
          <a:xfrm>
            <a:off x="7178040" y="2057400"/>
            <a:ext cx="4279392" cy="2194560"/>
          </a:xfrm>
          <a:prstGeom prst="rect">
            <a:avLst/>
          </a:prstGeom>
          <a:solidFill>
            <a:srgbClr val="FFFCF9"/>
          </a:solidFill>
          <a:ln w="9525">
            <a:solidFill>
              <a:srgbClr val="E0D4C0"/>
            </a:solidFill>
            <a:prstDash val="solid"/>
          </a:ln>
        </p:spPr>
      </p:sp>
      <p:sp>
        <p:nvSpPr>
          <p:cNvPr id="17" name="Text 15"/>
          <p:cNvSpPr txBox="1"/>
          <p:nvPr/>
        </p:nvSpPr>
        <p:spPr>
          <a:xfrm>
            <a:off x="7178040" y="2240280"/>
            <a:ext cx="4279392" cy="777240"/>
          </a:xfrm>
          <a:prstGeom prst="rect">
            <a:avLst/>
          </a:prstGeom>
          <a:noFill/>
          <a:ln/>
        </p:spPr>
        <p:txBody>
          <a:bodyPr wrap="square" lIns="0" tIns="0" rIns="0" bIns="0" rtlCol="0" anchor="ctr"/>
          <a:lstStyle/>
          <a:p>
            <a:pPr algn="ctr" indent="0" marL="0">
              <a:buNone/>
            </a:pPr>
            <a:r>
              <a:rPr lang="en-US" sz="5000" b="1" dirty="0">
                <a:solidFill>
                  <a:srgbClr val="111E38"/>
                </a:solidFill>
                <a:latin typeface="Georgia" pitchFamily="34" charset="0"/>
                <a:ea typeface="Georgia" pitchFamily="34" charset="-122"/>
                <a:cs typeface="Georgia" pitchFamily="34" charset="-120"/>
              </a:rPr>
              <a:t>≥ 90%</a:t>
            </a:r>
            <a:endParaRPr lang="en-US" sz="5000" dirty="0"/>
          </a:p>
        </p:txBody>
      </p:sp>
      <p:sp>
        <p:nvSpPr>
          <p:cNvPr id="18" name="Shape 16"/>
          <p:cNvSpPr/>
          <p:nvPr/>
        </p:nvSpPr>
        <p:spPr>
          <a:xfrm>
            <a:off x="8860536" y="3063240"/>
            <a:ext cx="914400" cy="16459"/>
          </a:xfrm>
          <a:prstGeom prst="rect">
            <a:avLst/>
          </a:prstGeom>
          <a:solidFill>
            <a:srgbClr val="B58A42"/>
          </a:solidFill>
          <a:ln w="12700">
            <a:solidFill>
              <a:srgbClr val="B58A42"/>
            </a:solidFill>
            <a:prstDash val="solid"/>
          </a:ln>
        </p:spPr>
      </p:sp>
      <p:sp>
        <p:nvSpPr>
          <p:cNvPr id="19" name="Text 17"/>
          <p:cNvSpPr txBox="1"/>
          <p:nvPr/>
        </p:nvSpPr>
        <p:spPr>
          <a:xfrm>
            <a:off x="7178040" y="3172968"/>
            <a:ext cx="4279392" cy="237744"/>
          </a:xfrm>
          <a:prstGeom prst="rect">
            <a:avLst/>
          </a:prstGeom>
          <a:noFill/>
          <a:ln/>
        </p:spPr>
        <p:txBody>
          <a:bodyPr wrap="square" lIns="0" tIns="0" rIns="0" bIns="0" rtlCol="0" anchor="ctr"/>
          <a:lstStyle/>
          <a:p>
            <a:pPr algn="ctr" indent="0" marL="0">
              <a:buNone/>
            </a:pPr>
            <a:r>
              <a:rPr lang="en-US" sz="1050" b="1" spc="160" kern="0" dirty="0">
                <a:solidFill>
                  <a:srgbClr val="B58A42"/>
                </a:solidFill>
                <a:latin typeface="Arial" pitchFamily="34" charset="0"/>
                <a:ea typeface="Arial" pitchFamily="34" charset="-122"/>
                <a:cs typeface="Arial" pitchFamily="34" charset="-120"/>
              </a:rPr>
              <a:t>TARGET ATTACK DETECTION RATE</a:t>
            </a:r>
            <a:endParaRPr lang="en-US" sz="1050" dirty="0"/>
          </a:p>
        </p:txBody>
      </p:sp>
      <p:sp>
        <p:nvSpPr>
          <p:cNvPr id="20" name="Text 18"/>
          <p:cNvSpPr txBox="1"/>
          <p:nvPr/>
        </p:nvSpPr>
        <p:spPr>
          <a:xfrm>
            <a:off x="7178040" y="3429000"/>
            <a:ext cx="4279392" cy="548640"/>
          </a:xfrm>
          <a:prstGeom prst="rect">
            <a:avLst/>
          </a:prstGeom>
          <a:noFill/>
          <a:ln/>
        </p:spPr>
        <p:txBody>
          <a:bodyPr wrap="square" lIns="0" tIns="0" rIns="0" bIns="0" rtlCol="0" anchor="t"/>
          <a:lstStyle/>
          <a:p>
            <a:pPr algn="ctr" indent="0" marL="0">
              <a:buNone/>
            </a:pPr>
            <a:r>
              <a:rPr lang="en-US" sz="1200" dirty="0">
                <a:solidFill>
                  <a:srgbClr val="4A586E"/>
                </a:solidFill>
                <a:latin typeface="Arial" pitchFamily="34" charset="0"/>
                <a:ea typeface="Arial" pitchFamily="34" charset="-122"/>
                <a:cs typeface="Arial" pitchFamily="34" charset="-120"/>
              </a:rPr>
              <a:t>of simulated attacks detected across the six categories in controlled test captures.</a:t>
            </a:r>
            <a:endParaRPr lang="en-US" sz="1200" dirty="0"/>
          </a:p>
        </p:txBody>
      </p:sp>
      <p:sp>
        <p:nvSpPr>
          <p:cNvPr id="21" name="Shape 19"/>
          <p:cNvSpPr/>
          <p:nvPr/>
        </p:nvSpPr>
        <p:spPr>
          <a:xfrm>
            <a:off x="7178040" y="4480560"/>
            <a:ext cx="4279392" cy="1371600"/>
          </a:xfrm>
          <a:prstGeom prst="rect">
            <a:avLst/>
          </a:prstGeom>
          <a:solidFill>
            <a:srgbClr val="FFFCF9"/>
          </a:solidFill>
          <a:ln w="12700">
            <a:solidFill>
              <a:srgbClr val="B58A42"/>
            </a:solidFill>
            <a:prstDash val="solid"/>
          </a:ln>
        </p:spPr>
      </p:sp>
      <p:sp>
        <p:nvSpPr>
          <p:cNvPr id="22" name="Text 20"/>
          <p:cNvSpPr txBox="1"/>
          <p:nvPr/>
        </p:nvSpPr>
        <p:spPr>
          <a:xfrm>
            <a:off x="7406640" y="4663440"/>
            <a:ext cx="3822192" cy="237744"/>
          </a:xfrm>
          <a:prstGeom prst="rect">
            <a:avLst/>
          </a:prstGeom>
          <a:noFill/>
          <a:ln/>
        </p:spPr>
        <p:txBody>
          <a:bodyPr wrap="square" lIns="0" tIns="0" rIns="0" bIns="0" rtlCol="0" anchor="ctr"/>
          <a:lstStyle/>
          <a:p>
            <a:pPr algn="l" indent="0" marL="0">
              <a:buNone/>
            </a:pPr>
            <a:r>
              <a:rPr lang="en-US" sz="1050" b="1" spc="180" kern="0" dirty="0">
                <a:solidFill>
                  <a:srgbClr val="B58A42"/>
                </a:solidFill>
                <a:latin typeface="Arial" pitchFamily="34" charset="0"/>
                <a:ea typeface="Arial" pitchFamily="34" charset="-122"/>
                <a:cs typeface="Arial" pitchFamily="34" charset="-120"/>
              </a:rPr>
              <a:t>HOW WILL WE MEASURE IT?</a:t>
            </a:r>
            <a:endParaRPr lang="en-US" sz="1050" dirty="0"/>
          </a:p>
        </p:txBody>
      </p:sp>
      <p:sp>
        <p:nvSpPr>
          <p:cNvPr id="23" name="Text 21"/>
          <p:cNvSpPr txBox="1"/>
          <p:nvPr/>
        </p:nvSpPr>
        <p:spPr>
          <a:xfrm>
            <a:off x="7406640" y="4956048"/>
            <a:ext cx="3822192" cy="822960"/>
          </a:xfrm>
          <a:prstGeom prst="rect">
            <a:avLst/>
          </a:prstGeom>
          <a:noFill/>
          <a:ln/>
        </p:spPr>
        <p:txBody>
          <a:bodyPr wrap="square" lIns="0" tIns="0" rIns="0" bIns="0" rtlCol="0" anchor="t"/>
          <a:lstStyle/>
          <a:p>
            <a:pPr indent="0" marL="0">
              <a:lnSpc>
                <a:spcPct val="112000"/>
              </a:lnSpc>
              <a:buNone/>
            </a:pPr>
            <a:r>
              <a:rPr lang="en-US" sz="1200" dirty="0">
                <a:solidFill>
                  <a:srgbClr val="4A586E"/>
                </a:solidFill>
                <a:latin typeface="Arial" pitchFamily="34" charset="0"/>
                <a:ea typeface="Arial" pitchFamily="34" charset="-122"/>
                <a:cs typeface="Arial" pitchFamily="34" charset="-120"/>
              </a:rPr>
              <a:t>Run known, synthetically generated attack traffic through the system, then compare the attacks we injected against the detections the engine produces.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365760" y="365760"/>
            <a:ext cx="11457432" cy="6126480"/>
          </a:xfrm>
          <a:prstGeom prst="rect">
            <a:avLst/>
          </a:prstGeom>
          <a:solidFill>
            <a:srgbClr val="FAF7F2"/>
          </a:solidFill>
          <a:ln w="12700">
            <a:solidFill>
              <a:srgbClr val="E0D4C0"/>
            </a:solidFill>
            <a:prstDash val="solid"/>
          </a:ln>
        </p:spPr>
      </p:sp>
      <p:sp>
        <p:nvSpPr>
          <p:cNvPr id="3" name="Text 1"/>
          <p:cNvSpPr txBox="1"/>
          <p:nvPr/>
        </p:nvSpPr>
        <p:spPr>
          <a:xfrm>
            <a:off x="731520" y="566928"/>
            <a:ext cx="8229600" cy="274320"/>
          </a:xfrm>
          <a:prstGeom prst="rect">
            <a:avLst/>
          </a:prstGeom>
          <a:noFill/>
          <a:ln/>
        </p:spPr>
        <p:txBody>
          <a:bodyPr wrap="square" lIns="0" tIns="0" rIns="0" bIns="0" rtlCol="0" anchor="ctr"/>
          <a:lstStyle/>
          <a:p>
            <a:pPr indent="0" marL="0">
              <a:buNone/>
            </a:pPr>
            <a:r>
              <a:rPr lang="en-US" sz="1200" b="1" spc="240" kern="0" dirty="0">
                <a:solidFill>
                  <a:srgbClr val="B58A42"/>
                </a:solidFill>
                <a:latin typeface="Arial" pitchFamily="34" charset="0"/>
                <a:ea typeface="Arial" pitchFamily="34" charset="-122"/>
                <a:cs typeface="Arial" pitchFamily="34" charset="-120"/>
              </a:rPr>
              <a:t>IV. OBJECTIVE II</a:t>
            </a:r>
            <a:endParaRPr lang="en-US" sz="1200" dirty="0"/>
          </a:p>
        </p:txBody>
      </p:sp>
      <p:sp>
        <p:nvSpPr>
          <p:cNvPr id="4" name="Text 2"/>
          <p:cNvSpPr txBox="1"/>
          <p:nvPr/>
        </p:nvSpPr>
        <p:spPr>
          <a:xfrm>
            <a:off x="731520" y="877824"/>
            <a:ext cx="10725912" cy="658368"/>
          </a:xfrm>
          <a:prstGeom prst="rect">
            <a:avLst/>
          </a:prstGeom>
          <a:noFill/>
          <a:ln/>
        </p:spPr>
        <p:txBody>
          <a:bodyPr wrap="square" lIns="0" tIns="0" rIns="0" bIns="0" rtlCol="0" anchor="ctr"/>
          <a:lstStyle/>
          <a:p>
            <a:pPr indent="0" marL="0">
              <a:buNone/>
            </a:pPr>
            <a:r>
              <a:rPr lang="en-US" sz="3000" b="1" dirty="0">
                <a:solidFill>
                  <a:srgbClr val="111E38"/>
                </a:solidFill>
                <a:latin typeface="Georgia" pitchFamily="34" charset="0"/>
                <a:ea typeface="Georgia" pitchFamily="34" charset="-122"/>
                <a:cs typeface="Georgia" pitchFamily="34" charset="-120"/>
              </a:rPr>
              <a:t>Turning Alerts into Context</a:t>
            </a:r>
            <a:endParaRPr lang="en-US" sz="3000" dirty="0"/>
          </a:p>
        </p:txBody>
      </p:sp>
      <p:sp>
        <p:nvSpPr>
          <p:cNvPr id="5" name="Shape 3"/>
          <p:cNvSpPr/>
          <p:nvPr/>
        </p:nvSpPr>
        <p:spPr>
          <a:xfrm>
            <a:off x="731520" y="1645920"/>
            <a:ext cx="10725912" cy="18288"/>
          </a:xfrm>
          <a:prstGeom prst="rect">
            <a:avLst/>
          </a:prstGeom>
          <a:solidFill>
            <a:srgbClr val="B58A42"/>
          </a:solidFill>
          <a:ln w="12700">
            <a:solidFill>
              <a:srgbClr val="B58A42"/>
            </a:solidFill>
            <a:prstDash val="solid"/>
          </a:ln>
        </p:spPr>
      </p:sp>
      <p:sp>
        <p:nvSpPr>
          <p:cNvPr id="6" name="Text 4"/>
          <p:cNvSpPr txBox="1"/>
          <p:nvPr/>
        </p:nvSpPr>
        <p:spPr>
          <a:xfrm>
            <a:off x="731520" y="2057400"/>
            <a:ext cx="5852160" cy="548640"/>
          </a:xfrm>
          <a:prstGeom prst="rect">
            <a:avLst/>
          </a:prstGeom>
          <a:noFill/>
          <a:ln/>
        </p:spPr>
        <p:txBody>
          <a:bodyPr wrap="square" lIns="0" tIns="0" rIns="0" bIns="0" rtlCol="0" anchor="ctr"/>
          <a:lstStyle/>
          <a:p>
            <a:pPr indent="0" marL="0">
              <a:lnSpc>
                <a:spcPct val="115000"/>
              </a:lnSpc>
              <a:buNone/>
            </a:pPr>
            <a:r>
              <a:rPr lang="en-US" sz="1500" i="1" dirty="0">
                <a:solidFill>
                  <a:srgbClr val="1E3A27"/>
                </a:solidFill>
                <a:latin typeface="Georgia" pitchFamily="34" charset="0"/>
                <a:ea typeface="Georgia" pitchFamily="34" charset="-122"/>
                <a:cs typeface="Georgia" pitchFamily="34" charset="-120"/>
              </a:rPr>
              <a:t>"What happened, what technique does it resemble, and how suspicious is the source?"</a:t>
            </a:r>
            <a:endParaRPr lang="en-US" sz="1500" dirty="0"/>
          </a:p>
        </p:txBody>
      </p:sp>
      <p:sp>
        <p:nvSpPr>
          <p:cNvPr id="7" name="Text 5"/>
          <p:cNvSpPr txBox="1"/>
          <p:nvPr/>
        </p:nvSpPr>
        <p:spPr>
          <a:xfrm>
            <a:off x="731520" y="2834640"/>
            <a:ext cx="5852160" cy="1737360"/>
          </a:xfrm>
          <a:prstGeom prst="rect">
            <a:avLst/>
          </a:prstGeom>
          <a:noFill/>
          <a:ln/>
        </p:spPr>
        <p:txBody>
          <a:bodyPr wrap="square" lIns="0" tIns="0" rIns="0" bIns="0" rtlCol="0" anchor="t"/>
          <a:lstStyle/>
          <a:p>
            <a:pPr indent="0" marL="0">
              <a:buNone/>
            </a:pPr>
            <a:r>
              <a:rPr lang="en-US" sz="1300" b="1" dirty="0">
                <a:solidFill>
                  <a:srgbClr val="B58A42"/>
                </a:solidFill>
                <a:latin typeface="Georgia" pitchFamily="34" charset="0"/>
                <a:ea typeface="Georgia" pitchFamily="34" charset="-122"/>
                <a:cs typeface="Georgia" pitchFamily="34" charset="-120"/>
              </a:rPr>
              <a:t>♦   </a:t>
            </a:r>
            <a:pPr indent="0" marL="0">
              <a:spcAft>
                <a:spcPts val="1300"/>
              </a:spcAft>
              <a:buNone/>
            </a:pPr>
            <a:r>
              <a:rPr lang="en-US" sz="1400" dirty="0">
                <a:solidFill>
                  <a:srgbClr val="111E38"/>
                </a:solidFill>
                <a:latin typeface="Arial" pitchFamily="34" charset="0"/>
                <a:ea typeface="Arial" pitchFamily="34" charset="-122"/>
                <a:cs typeface="Arial" pitchFamily="34" charset="-120"/>
              </a:rPr>
              <a:t>Map every detection to a MITRE ATT&amp;CK technique ID.</a:t>
            </a:r>
            <a:endParaRPr lang="en-US" sz="1300" dirty="0"/>
          </a:p>
          <a:p>
            <a:pPr indent="0" marL="0">
              <a:buNone/>
            </a:pPr>
            <a:r>
              <a:rPr lang="en-US" sz="1300" b="1" dirty="0">
                <a:solidFill>
                  <a:srgbClr val="B58A42"/>
                </a:solidFill>
                <a:latin typeface="Georgia" pitchFamily="34" charset="0"/>
                <a:ea typeface="Georgia" pitchFamily="34" charset="-122"/>
                <a:cs typeface="Georgia" pitchFamily="34" charset="-120"/>
              </a:rPr>
              <a:t>♦   </a:t>
            </a:r>
            <a:pPr indent="0" marL="0">
              <a:spcAft>
                <a:spcPts val="1300"/>
              </a:spcAft>
              <a:buNone/>
            </a:pPr>
            <a:r>
              <a:rPr lang="en-US" sz="1400" dirty="0">
                <a:solidFill>
                  <a:srgbClr val="111E38"/>
                </a:solidFill>
                <a:latin typeface="Arial" pitchFamily="34" charset="0"/>
                <a:ea typeface="Arial" pitchFamily="34" charset="-122"/>
                <a:cs typeface="Arial" pitchFamily="34" charset="-120"/>
              </a:rPr>
              <a:t>Enrich flagged external IPs with reputation data.</a:t>
            </a:r>
            <a:endParaRPr lang="en-US" sz="1300" dirty="0"/>
          </a:p>
          <a:p>
            <a:pPr indent="0" marL="0">
              <a:buNone/>
            </a:pPr>
            <a:r>
              <a:rPr lang="en-US" sz="1300" b="1" dirty="0">
                <a:solidFill>
                  <a:srgbClr val="B58A42"/>
                </a:solidFill>
                <a:latin typeface="Georgia" pitchFamily="34" charset="0"/>
                <a:ea typeface="Georgia" pitchFamily="34" charset="-122"/>
                <a:cs typeface="Georgia" pitchFamily="34" charset="-120"/>
              </a:rPr>
              <a:t>♦   </a:t>
            </a:r>
            <a:pPr indent="0" marL="0">
              <a:spcAft>
                <a:spcPts val="1300"/>
              </a:spcAft>
              <a:buNone/>
            </a:pPr>
            <a:r>
              <a:rPr lang="en-US" sz="1400" dirty="0">
                <a:solidFill>
                  <a:srgbClr val="111E38"/>
                </a:solidFill>
                <a:latin typeface="Arial" pitchFamily="34" charset="0"/>
                <a:ea typeface="Arial" pitchFamily="34" charset="-122"/>
                <a:cs typeface="Arial" pitchFamily="34" charset="-120"/>
              </a:rPr>
              <a:t>Add GeoIP country and city context.</a:t>
            </a:r>
            <a:endParaRPr lang="en-US" sz="1300" dirty="0"/>
          </a:p>
          <a:p>
            <a:pPr indent="0" marL="0">
              <a:buNone/>
            </a:pPr>
            <a:r>
              <a:rPr lang="en-US" sz="1300" b="1" dirty="0">
                <a:solidFill>
                  <a:srgbClr val="B58A42"/>
                </a:solidFill>
                <a:latin typeface="Georgia" pitchFamily="34" charset="0"/>
                <a:ea typeface="Georgia" pitchFamily="34" charset="-122"/>
                <a:cs typeface="Georgia" pitchFamily="34" charset="-120"/>
              </a:rPr>
              <a:t>♦   </a:t>
            </a:r>
            <a:pPr indent="0" marL="0">
              <a:spcAft>
                <a:spcPts val="1300"/>
              </a:spcAft>
              <a:buNone/>
            </a:pPr>
            <a:r>
              <a:rPr lang="en-US" sz="1400" dirty="0">
                <a:solidFill>
                  <a:srgbClr val="111E38"/>
                </a:solidFill>
                <a:latin typeface="Arial" pitchFamily="34" charset="0"/>
                <a:ea typeface="Arial" pitchFamily="34" charset="-122"/>
                <a:cs typeface="Arial" pitchFamily="34" charset="-120"/>
              </a:rPr>
              <a:t>Offer optional, on-demand VirusTotal lookups.</a:t>
            </a:r>
            <a:endParaRPr lang="en-US" sz="1300" dirty="0"/>
          </a:p>
        </p:txBody>
      </p:sp>
      <p:sp>
        <p:nvSpPr>
          <p:cNvPr id="8" name="Shape 6"/>
          <p:cNvSpPr/>
          <p:nvPr/>
        </p:nvSpPr>
        <p:spPr>
          <a:xfrm>
            <a:off x="731520" y="4553712"/>
            <a:ext cx="5852160" cy="10973"/>
          </a:xfrm>
          <a:prstGeom prst="rect">
            <a:avLst/>
          </a:prstGeom>
          <a:solidFill>
            <a:srgbClr val="E0D4C0"/>
          </a:solidFill>
          <a:ln w="12700">
            <a:solidFill>
              <a:srgbClr val="E0D4C0"/>
            </a:solidFill>
            <a:prstDash val="solid"/>
          </a:ln>
        </p:spPr>
      </p:sp>
      <p:sp>
        <p:nvSpPr>
          <p:cNvPr id="9" name="Text 7"/>
          <p:cNvSpPr txBox="1"/>
          <p:nvPr/>
        </p:nvSpPr>
        <p:spPr>
          <a:xfrm>
            <a:off x="731520" y="4681728"/>
            <a:ext cx="2743200" cy="777240"/>
          </a:xfrm>
          <a:prstGeom prst="rect">
            <a:avLst/>
          </a:prstGeom>
          <a:noFill/>
          <a:ln/>
        </p:spPr>
        <p:txBody>
          <a:bodyPr wrap="square" lIns="0" tIns="0" rIns="0" bIns="0" rtlCol="0" anchor="ctr"/>
          <a:lstStyle/>
          <a:p>
            <a:pPr algn="l" indent="0" marL="0">
              <a:buNone/>
            </a:pPr>
            <a:r>
              <a:rPr lang="en-US" sz="3800" b="1" dirty="0">
                <a:solidFill>
                  <a:srgbClr val="111E38"/>
                </a:solidFill>
                <a:latin typeface="Georgia" pitchFamily="34" charset="0"/>
                <a:ea typeface="Georgia" pitchFamily="34" charset="-122"/>
                <a:cs typeface="Georgia" pitchFamily="34" charset="-120"/>
              </a:rPr>
              <a:t>100%</a:t>
            </a:r>
            <a:endParaRPr lang="en-US" sz="3800" dirty="0"/>
          </a:p>
        </p:txBody>
      </p:sp>
      <p:sp>
        <p:nvSpPr>
          <p:cNvPr id="10" name="Shape 8"/>
          <p:cNvSpPr/>
          <p:nvPr/>
        </p:nvSpPr>
        <p:spPr>
          <a:xfrm>
            <a:off x="731520" y="5504688"/>
            <a:ext cx="914400" cy="16459"/>
          </a:xfrm>
          <a:prstGeom prst="rect">
            <a:avLst/>
          </a:prstGeom>
          <a:solidFill>
            <a:srgbClr val="B58A42"/>
          </a:solidFill>
          <a:ln w="12700">
            <a:solidFill>
              <a:srgbClr val="B58A42"/>
            </a:solidFill>
            <a:prstDash val="solid"/>
          </a:ln>
        </p:spPr>
      </p:sp>
      <p:sp>
        <p:nvSpPr>
          <p:cNvPr id="11" name="Text 9"/>
          <p:cNvSpPr txBox="1"/>
          <p:nvPr/>
        </p:nvSpPr>
        <p:spPr>
          <a:xfrm>
            <a:off x="731520" y="5614416"/>
            <a:ext cx="2743200" cy="237744"/>
          </a:xfrm>
          <a:prstGeom prst="rect">
            <a:avLst/>
          </a:prstGeom>
          <a:noFill/>
          <a:ln/>
        </p:spPr>
        <p:txBody>
          <a:bodyPr wrap="square" lIns="0" tIns="0" rIns="0" bIns="0" rtlCol="0" anchor="ctr"/>
          <a:lstStyle/>
          <a:p>
            <a:pPr algn="l" indent="0" marL="0">
              <a:buNone/>
            </a:pPr>
            <a:r>
              <a:rPr lang="en-US" sz="1050" b="1" spc="160" kern="0" dirty="0">
                <a:solidFill>
                  <a:srgbClr val="B58A42"/>
                </a:solidFill>
                <a:latin typeface="Arial" pitchFamily="34" charset="0"/>
                <a:ea typeface="Arial" pitchFamily="34" charset="-122"/>
                <a:cs typeface="Arial" pitchFamily="34" charset="-120"/>
              </a:rPr>
              <a:t>MITRE ATT&amp;CK MAPPING</a:t>
            </a:r>
            <a:endParaRPr lang="en-US" sz="1050" dirty="0"/>
          </a:p>
        </p:txBody>
      </p:sp>
      <p:sp>
        <p:nvSpPr>
          <p:cNvPr id="12" name="Text 10"/>
          <p:cNvSpPr txBox="1"/>
          <p:nvPr/>
        </p:nvSpPr>
        <p:spPr>
          <a:xfrm>
            <a:off x="731520" y="5870448"/>
            <a:ext cx="2743200" cy="548640"/>
          </a:xfrm>
          <a:prstGeom prst="rect">
            <a:avLst/>
          </a:prstGeom>
          <a:noFill/>
          <a:ln/>
        </p:spPr>
        <p:txBody>
          <a:bodyPr wrap="square" lIns="0" tIns="0" rIns="0" bIns="0" rtlCol="0" anchor="t"/>
          <a:lstStyle/>
          <a:p>
            <a:pPr algn="l" indent="0" marL="0">
              <a:buNone/>
            </a:pPr>
            <a:r>
              <a:rPr lang="en-US" sz="1200" dirty="0">
                <a:solidFill>
                  <a:srgbClr val="4A586E"/>
                </a:solidFill>
                <a:latin typeface="Arial" pitchFamily="34" charset="0"/>
                <a:ea typeface="Arial" pitchFamily="34" charset="-122"/>
                <a:cs typeface="Arial" pitchFamily="34" charset="-120"/>
              </a:rPr>
              <a:t>Every detection carries a technique ID.</a:t>
            </a:r>
            <a:endParaRPr lang="en-US" sz="1200" dirty="0"/>
          </a:p>
        </p:txBody>
      </p:sp>
      <p:sp>
        <p:nvSpPr>
          <p:cNvPr id="13" name="Text 11"/>
          <p:cNvSpPr txBox="1"/>
          <p:nvPr/>
        </p:nvSpPr>
        <p:spPr>
          <a:xfrm>
            <a:off x="3840480" y="4681728"/>
            <a:ext cx="2743200" cy="777240"/>
          </a:xfrm>
          <a:prstGeom prst="rect">
            <a:avLst/>
          </a:prstGeom>
          <a:noFill/>
          <a:ln/>
        </p:spPr>
        <p:txBody>
          <a:bodyPr wrap="square" lIns="0" tIns="0" rIns="0" bIns="0" rtlCol="0" anchor="ctr"/>
          <a:lstStyle/>
          <a:p>
            <a:pPr algn="l" indent="0" marL="0">
              <a:buNone/>
            </a:pPr>
            <a:r>
              <a:rPr lang="en-US" sz="3800" b="1" dirty="0">
                <a:solidFill>
                  <a:srgbClr val="111E38"/>
                </a:solidFill>
                <a:latin typeface="Georgia" pitchFamily="34" charset="0"/>
                <a:ea typeface="Georgia" pitchFamily="34" charset="-122"/>
                <a:cs typeface="Georgia" pitchFamily="34" charset="-120"/>
              </a:rPr>
              <a:t>≥ 95%</a:t>
            </a:r>
            <a:endParaRPr lang="en-US" sz="3800" dirty="0"/>
          </a:p>
        </p:txBody>
      </p:sp>
      <p:sp>
        <p:nvSpPr>
          <p:cNvPr id="14" name="Shape 12"/>
          <p:cNvSpPr/>
          <p:nvPr/>
        </p:nvSpPr>
        <p:spPr>
          <a:xfrm>
            <a:off x="3840480" y="5504688"/>
            <a:ext cx="914400" cy="16459"/>
          </a:xfrm>
          <a:prstGeom prst="rect">
            <a:avLst/>
          </a:prstGeom>
          <a:solidFill>
            <a:srgbClr val="B58A42"/>
          </a:solidFill>
          <a:ln w="12700">
            <a:solidFill>
              <a:srgbClr val="B58A42"/>
            </a:solidFill>
            <a:prstDash val="solid"/>
          </a:ln>
        </p:spPr>
      </p:sp>
      <p:sp>
        <p:nvSpPr>
          <p:cNvPr id="15" name="Text 13"/>
          <p:cNvSpPr txBox="1"/>
          <p:nvPr/>
        </p:nvSpPr>
        <p:spPr>
          <a:xfrm>
            <a:off x="3840480" y="5614416"/>
            <a:ext cx="2743200" cy="237744"/>
          </a:xfrm>
          <a:prstGeom prst="rect">
            <a:avLst/>
          </a:prstGeom>
          <a:noFill/>
          <a:ln/>
        </p:spPr>
        <p:txBody>
          <a:bodyPr wrap="square" lIns="0" tIns="0" rIns="0" bIns="0" rtlCol="0" anchor="ctr"/>
          <a:lstStyle/>
          <a:p>
            <a:pPr algn="l" indent="0" marL="0">
              <a:buNone/>
            </a:pPr>
            <a:r>
              <a:rPr lang="en-US" sz="1050" b="1" spc="160" kern="0" dirty="0">
                <a:solidFill>
                  <a:srgbClr val="B58A42"/>
                </a:solidFill>
                <a:latin typeface="Arial" pitchFamily="34" charset="0"/>
                <a:ea typeface="Arial" pitchFamily="34" charset="-122"/>
                <a:cs typeface="Arial" pitchFamily="34" charset="-120"/>
              </a:rPr>
              <a:t>INTELLIGENCE ENRICHMENT</a:t>
            </a:r>
            <a:endParaRPr lang="en-US" sz="1050" dirty="0"/>
          </a:p>
        </p:txBody>
      </p:sp>
      <p:sp>
        <p:nvSpPr>
          <p:cNvPr id="16" name="Text 14"/>
          <p:cNvSpPr txBox="1"/>
          <p:nvPr/>
        </p:nvSpPr>
        <p:spPr>
          <a:xfrm>
            <a:off x="3840480" y="5870448"/>
            <a:ext cx="2743200" cy="548640"/>
          </a:xfrm>
          <a:prstGeom prst="rect">
            <a:avLst/>
          </a:prstGeom>
          <a:noFill/>
          <a:ln/>
        </p:spPr>
        <p:txBody>
          <a:bodyPr wrap="square" lIns="0" tIns="0" rIns="0" bIns="0" rtlCol="0" anchor="t"/>
          <a:lstStyle/>
          <a:p>
            <a:pPr algn="l" indent="0" marL="0">
              <a:buNone/>
            </a:pPr>
            <a:r>
              <a:rPr lang="en-US" sz="1200" dirty="0">
                <a:solidFill>
                  <a:srgbClr val="4A586E"/>
                </a:solidFill>
                <a:latin typeface="Arial" pitchFamily="34" charset="0"/>
                <a:ea typeface="Arial" pitchFamily="34" charset="-122"/>
                <a:cs typeface="Arial" pitchFamily="34" charset="-120"/>
              </a:rPr>
              <a:t>Reputation and location on flagged IPs.</a:t>
            </a:r>
            <a:endParaRPr lang="en-US" sz="1200" dirty="0"/>
          </a:p>
        </p:txBody>
      </p:sp>
      <p:sp>
        <p:nvSpPr>
          <p:cNvPr id="17" name="Text 15"/>
          <p:cNvSpPr txBox="1"/>
          <p:nvPr/>
        </p:nvSpPr>
        <p:spPr>
          <a:xfrm>
            <a:off x="7178040" y="2084832"/>
            <a:ext cx="4279392" cy="237744"/>
          </a:xfrm>
          <a:prstGeom prst="rect">
            <a:avLst/>
          </a:prstGeom>
          <a:noFill/>
          <a:ln/>
        </p:spPr>
        <p:txBody>
          <a:bodyPr wrap="square" lIns="0" tIns="0" rIns="0" bIns="0" rtlCol="0" anchor="ctr"/>
          <a:lstStyle/>
          <a:p>
            <a:pPr algn="l" indent="0" marL="0">
              <a:buNone/>
            </a:pPr>
            <a:r>
              <a:rPr lang="en-US" sz="1050" b="1" spc="180" kern="0" dirty="0">
                <a:solidFill>
                  <a:srgbClr val="B58A42"/>
                </a:solidFill>
                <a:latin typeface="Arial" pitchFamily="34" charset="0"/>
                <a:ea typeface="Arial" pitchFamily="34" charset="-122"/>
                <a:cs typeface="Arial" pitchFamily="34" charset="-120"/>
              </a:rPr>
              <a:t>THE TRANSFORMATION</a:t>
            </a:r>
            <a:endParaRPr lang="en-US" sz="1050" dirty="0"/>
          </a:p>
        </p:txBody>
      </p:sp>
      <p:sp>
        <p:nvSpPr>
          <p:cNvPr id="18" name="Shape 16"/>
          <p:cNvSpPr/>
          <p:nvPr/>
        </p:nvSpPr>
        <p:spPr>
          <a:xfrm>
            <a:off x="7178040" y="2377440"/>
            <a:ext cx="4279392" cy="822960"/>
          </a:xfrm>
          <a:prstGeom prst="rect">
            <a:avLst/>
          </a:prstGeom>
          <a:solidFill>
            <a:srgbClr val="FFFCF9"/>
          </a:solidFill>
          <a:ln w="9525">
            <a:solidFill>
              <a:srgbClr val="E0D4C0"/>
            </a:solidFill>
            <a:prstDash val="solid"/>
          </a:ln>
        </p:spPr>
      </p:sp>
      <p:sp>
        <p:nvSpPr>
          <p:cNvPr id="19" name="Text 17"/>
          <p:cNvSpPr txBox="1"/>
          <p:nvPr/>
        </p:nvSpPr>
        <p:spPr>
          <a:xfrm>
            <a:off x="7406640" y="2505456"/>
            <a:ext cx="3822192" cy="219456"/>
          </a:xfrm>
          <a:prstGeom prst="rect">
            <a:avLst/>
          </a:prstGeom>
          <a:noFill/>
          <a:ln/>
        </p:spPr>
        <p:txBody>
          <a:bodyPr wrap="square" lIns="0" tIns="0" rIns="0" bIns="0" rtlCol="0" anchor="ctr"/>
          <a:lstStyle/>
          <a:p>
            <a:pPr indent="0" marL="0">
              <a:buNone/>
            </a:pPr>
            <a:r>
              <a:rPr lang="en-US" sz="1000" b="1" spc="160" kern="0" dirty="0">
                <a:solidFill>
                  <a:srgbClr val="4A586E"/>
                </a:solidFill>
                <a:latin typeface="Arial" pitchFamily="34" charset="0"/>
                <a:ea typeface="Arial" pitchFamily="34" charset="-122"/>
                <a:cs typeface="Arial" pitchFamily="34" charset="-120"/>
              </a:rPr>
              <a:t>RAW ALERT</a:t>
            </a:r>
            <a:endParaRPr lang="en-US" sz="1000" dirty="0"/>
          </a:p>
        </p:txBody>
      </p:sp>
      <p:sp>
        <p:nvSpPr>
          <p:cNvPr id="20" name="Text 18"/>
          <p:cNvSpPr txBox="1"/>
          <p:nvPr/>
        </p:nvSpPr>
        <p:spPr>
          <a:xfrm>
            <a:off x="7406640" y="2743200"/>
            <a:ext cx="3822192" cy="292608"/>
          </a:xfrm>
          <a:prstGeom prst="rect">
            <a:avLst/>
          </a:prstGeom>
          <a:noFill/>
          <a:ln/>
        </p:spPr>
        <p:txBody>
          <a:bodyPr wrap="square" lIns="0" tIns="0" rIns="0" bIns="0" rtlCol="0" anchor="ctr"/>
          <a:lstStyle/>
          <a:p>
            <a:pPr indent="0" marL="0">
              <a:buNone/>
            </a:pPr>
            <a:r>
              <a:rPr lang="en-US" sz="1400" i="1" dirty="0">
                <a:solidFill>
                  <a:srgbClr val="111E38"/>
                </a:solidFill>
                <a:latin typeface="Georgia" pitchFamily="34" charset="0"/>
                <a:ea typeface="Georgia" pitchFamily="34" charset="-122"/>
                <a:cs typeface="Georgia" pitchFamily="34" charset="-120"/>
              </a:rPr>
              <a:t>"Suspicious IP detected"</a:t>
            </a:r>
            <a:endParaRPr lang="en-US" sz="1400" dirty="0"/>
          </a:p>
        </p:txBody>
      </p:sp>
      <p:sp>
        <p:nvSpPr>
          <p:cNvPr id="21" name="Shape 19"/>
          <p:cNvSpPr/>
          <p:nvPr/>
        </p:nvSpPr>
        <p:spPr>
          <a:xfrm rot="5400000">
            <a:off x="9189720" y="3310128"/>
            <a:ext cx="256032" cy="237744"/>
          </a:xfrm>
          <a:prstGeom prst="chevron">
            <a:avLst/>
          </a:prstGeom>
          <a:solidFill>
            <a:srgbClr val="B58A42"/>
          </a:solidFill>
          <a:ln w="12700">
            <a:solidFill>
              <a:srgbClr val="B58A42"/>
            </a:solidFill>
            <a:prstDash val="solid"/>
          </a:ln>
        </p:spPr>
      </p:sp>
      <p:sp>
        <p:nvSpPr>
          <p:cNvPr id="22" name="Shape 20"/>
          <p:cNvSpPr/>
          <p:nvPr/>
        </p:nvSpPr>
        <p:spPr>
          <a:xfrm>
            <a:off x="7178040" y="3703320"/>
            <a:ext cx="4279392" cy="2148840"/>
          </a:xfrm>
          <a:prstGeom prst="rect">
            <a:avLst/>
          </a:prstGeom>
          <a:solidFill>
            <a:srgbClr val="FFFCF9"/>
          </a:solidFill>
          <a:ln w="12700">
            <a:solidFill>
              <a:srgbClr val="B58A42"/>
            </a:solidFill>
            <a:prstDash val="solid"/>
          </a:ln>
        </p:spPr>
      </p:sp>
      <p:sp>
        <p:nvSpPr>
          <p:cNvPr id="23" name="Text 21"/>
          <p:cNvSpPr txBox="1"/>
          <p:nvPr/>
        </p:nvSpPr>
        <p:spPr>
          <a:xfrm>
            <a:off x="7406640" y="3877056"/>
            <a:ext cx="3822192" cy="237744"/>
          </a:xfrm>
          <a:prstGeom prst="rect">
            <a:avLst/>
          </a:prstGeom>
          <a:noFill/>
          <a:ln/>
        </p:spPr>
        <p:txBody>
          <a:bodyPr wrap="square" lIns="0" tIns="0" rIns="0" bIns="0" rtlCol="0" anchor="ctr"/>
          <a:lstStyle/>
          <a:p>
            <a:pPr algn="l" indent="0" marL="0">
              <a:buNone/>
            </a:pPr>
            <a:r>
              <a:rPr lang="en-US" sz="1050" b="1" spc="180" kern="0" dirty="0">
                <a:solidFill>
                  <a:srgbClr val="B58A42"/>
                </a:solidFill>
                <a:latin typeface="Arial" pitchFamily="34" charset="0"/>
                <a:ea typeface="Arial" pitchFamily="34" charset="-122"/>
                <a:cs typeface="Arial" pitchFamily="34" charset="-120"/>
              </a:rPr>
              <a:t>CONTEXTUALISED ALERT</a:t>
            </a:r>
            <a:endParaRPr lang="en-US" sz="1050" dirty="0"/>
          </a:p>
        </p:txBody>
      </p:sp>
      <p:sp>
        <p:nvSpPr>
          <p:cNvPr id="24" name="Text 22"/>
          <p:cNvSpPr txBox="1"/>
          <p:nvPr/>
        </p:nvSpPr>
        <p:spPr>
          <a:xfrm>
            <a:off x="7406640" y="4206240"/>
            <a:ext cx="3822192" cy="274320"/>
          </a:xfrm>
          <a:prstGeom prst="rect">
            <a:avLst/>
          </a:prstGeom>
          <a:noFill/>
          <a:ln/>
        </p:spPr>
        <p:txBody>
          <a:bodyPr wrap="square" lIns="0" tIns="0" rIns="0" bIns="0" rtlCol="0" anchor="ctr"/>
          <a:lstStyle/>
          <a:p>
            <a:pPr indent="0" marL="0">
              <a:buNone/>
            </a:pPr>
            <a:r>
              <a:rPr lang="en-US" sz="1100" b="1" dirty="0">
                <a:solidFill>
                  <a:srgbClr val="B58A42"/>
                </a:solidFill>
                <a:latin typeface="Georgia" pitchFamily="34" charset="0"/>
                <a:ea typeface="Georgia" pitchFamily="34" charset="-122"/>
                <a:cs typeface="Georgia" pitchFamily="34" charset="-120"/>
              </a:rPr>
              <a:t>♦   </a:t>
            </a:r>
            <a:pPr indent="0" marL="0">
              <a:buNone/>
            </a:pPr>
            <a:r>
              <a:rPr lang="en-US" sz="1250" dirty="0">
                <a:solidFill>
                  <a:srgbClr val="111E38"/>
                </a:solidFill>
                <a:latin typeface="Arial" pitchFamily="34" charset="0"/>
                <a:ea typeface="Arial" pitchFamily="34" charset="-122"/>
                <a:cs typeface="Arial" pitchFamily="34" charset="-120"/>
              </a:rPr>
              <a:t>Attack type</a:t>
            </a:r>
            <a:endParaRPr lang="en-US" sz="1100" dirty="0"/>
          </a:p>
        </p:txBody>
      </p:sp>
      <p:sp>
        <p:nvSpPr>
          <p:cNvPr id="25" name="Text 23"/>
          <p:cNvSpPr txBox="1"/>
          <p:nvPr/>
        </p:nvSpPr>
        <p:spPr>
          <a:xfrm>
            <a:off x="7406640" y="4507992"/>
            <a:ext cx="3822192" cy="274320"/>
          </a:xfrm>
          <a:prstGeom prst="rect">
            <a:avLst/>
          </a:prstGeom>
          <a:noFill/>
          <a:ln/>
        </p:spPr>
        <p:txBody>
          <a:bodyPr wrap="square" lIns="0" tIns="0" rIns="0" bIns="0" rtlCol="0" anchor="ctr"/>
          <a:lstStyle/>
          <a:p>
            <a:pPr indent="0" marL="0">
              <a:buNone/>
            </a:pPr>
            <a:r>
              <a:rPr lang="en-US" sz="1100" b="1" dirty="0">
                <a:solidFill>
                  <a:srgbClr val="B58A42"/>
                </a:solidFill>
                <a:latin typeface="Georgia" pitchFamily="34" charset="0"/>
                <a:ea typeface="Georgia" pitchFamily="34" charset="-122"/>
                <a:cs typeface="Georgia" pitchFamily="34" charset="-120"/>
              </a:rPr>
              <a:t>♦   </a:t>
            </a:r>
            <a:pPr indent="0" marL="0">
              <a:buNone/>
            </a:pPr>
            <a:r>
              <a:rPr lang="en-US" sz="1250" dirty="0">
                <a:solidFill>
                  <a:srgbClr val="111E38"/>
                </a:solidFill>
                <a:latin typeface="Arial" pitchFamily="34" charset="0"/>
                <a:ea typeface="Arial" pitchFamily="34" charset="-122"/>
                <a:cs typeface="Arial" pitchFamily="34" charset="-120"/>
              </a:rPr>
              <a:t>MITRE ATT&amp;CK technique ID</a:t>
            </a:r>
            <a:endParaRPr lang="en-US" sz="1100" dirty="0"/>
          </a:p>
        </p:txBody>
      </p:sp>
      <p:sp>
        <p:nvSpPr>
          <p:cNvPr id="26" name="Text 24"/>
          <p:cNvSpPr txBox="1"/>
          <p:nvPr/>
        </p:nvSpPr>
        <p:spPr>
          <a:xfrm>
            <a:off x="7406640" y="4809744"/>
            <a:ext cx="3822192" cy="274320"/>
          </a:xfrm>
          <a:prstGeom prst="rect">
            <a:avLst/>
          </a:prstGeom>
          <a:noFill/>
          <a:ln/>
        </p:spPr>
        <p:txBody>
          <a:bodyPr wrap="square" lIns="0" tIns="0" rIns="0" bIns="0" rtlCol="0" anchor="ctr"/>
          <a:lstStyle/>
          <a:p>
            <a:pPr indent="0" marL="0">
              <a:buNone/>
            </a:pPr>
            <a:r>
              <a:rPr lang="en-US" sz="1100" b="1" dirty="0">
                <a:solidFill>
                  <a:srgbClr val="B58A42"/>
                </a:solidFill>
                <a:latin typeface="Georgia" pitchFamily="34" charset="0"/>
                <a:ea typeface="Georgia" pitchFamily="34" charset="-122"/>
                <a:cs typeface="Georgia" pitchFamily="34" charset="-120"/>
              </a:rPr>
              <a:t>♦   </a:t>
            </a:r>
            <a:pPr indent="0" marL="0">
              <a:buNone/>
            </a:pPr>
            <a:r>
              <a:rPr lang="en-US" sz="1250" dirty="0">
                <a:solidFill>
                  <a:srgbClr val="111E38"/>
                </a:solidFill>
                <a:latin typeface="Arial" pitchFamily="34" charset="0"/>
                <a:ea typeface="Arial" pitchFamily="34" charset="-122"/>
                <a:cs typeface="Arial" pitchFamily="34" charset="-120"/>
              </a:rPr>
              <a:t>IP reputation score</a:t>
            </a:r>
            <a:endParaRPr lang="en-US" sz="1100" dirty="0"/>
          </a:p>
        </p:txBody>
      </p:sp>
      <p:sp>
        <p:nvSpPr>
          <p:cNvPr id="27" name="Text 25"/>
          <p:cNvSpPr txBox="1"/>
          <p:nvPr/>
        </p:nvSpPr>
        <p:spPr>
          <a:xfrm>
            <a:off x="7406640" y="5111496"/>
            <a:ext cx="3822192" cy="274320"/>
          </a:xfrm>
          <a:prstGeom prst="rect">
            <a:avLst/>
          </a:prstGeom>
          <a:noFill/>
          <a:ln/>
        </p:spPr>
        <p:txBody>
          <a:bodyPr wrap="square" lIns="0" tIns="0" rIns="0" bIns="0" rtlCol="0" anchor="ctr"/>
          <a:lstStyle/>
          <a:p>
            <a:pPr indent="0" marL="0">
              <a:buNone/>
            </a:pPr>
            <a:r>
              <a:rPr lang="en-US" sz="1100" b="1" dirty="0">
                <a:solidFill>
                  <a:srgbClr val="B58A42"/>
                </a:solidFill>
                <a:latin typeface="Georgia" pitchFamily="34" charset="0"/>
                <a:ea typeface="Georgia" pitchFamily="34" charset="-122"/>
                <a:cs typeface="Georgia" pitchFamily="34" charset="-120"/>
              </a:rPr>
              <a:t>♦   </a:t>
            </a:r>
            <a:pPr indent="0" marL="0">
              <a:buNone/>
            </a:pPr>
            <a:r>
              <a:rPr lang="en-US" sz="1250" dirty="0">
                <a:solidFill>
                  <a:srgbClr val="111E38"/>
                </a:solidFill>
                <a:latin typeface="Arial" pitchFamily="34" charset="0"/>
                <a:ea typeface="Arial" pitchFamily="34" charset="-122"/>
                <a:cs typeface="Arial" pitchFamily="34" charset="-120"/>
              </a:rPr>
              <a:t>Geographic location</a:t>
            </a:r>
            <a:endParaRPr lang="en-US" sz="1100" dirty="0"/>
          </a:p>
        </p:txBody>
      </p:sp>
      <p:sp>
        <p:nvSpPr>
          <p:cNvPr id="28" name="Text 26"/>
          <p:cNvSpPr txBox="1"/>
          <p:nvPr/>
        </p:nvSpPr>
        <p:spPr>
          <a:xfrm>
            <a:off x="7406640" y="5413248"/>
            <a:ext cx="3822192" cy="274320"/>
          </a:xfrm>
          <a:prstGeom prst="rect">
            <a:avLst/>
          </a:prstGeom>
          <a:noFill/>
          <a:ln/>
        </p:spPr>
        <p:txBody>
          <a:bodyPr wrap="square" lIns="0" tIns="0" rIns="0" bIns="0" rtlCol="0" anchor="ctr"/>
          <a:lstStyle/>
          <a:p>
            <a:pPr indent="0" marL="0">
              <a:buNone/>
            </a:pPr>
            <a:r>
              <a:rPr lang="en-US" sz="1100" b="1" dirty="0">
                <a:solidFill>
                  <a:srgbClr val="B58A42"/>
                </a:solidFill>
                <a:latin typeface="Georgia" pitchFamily="34" charset="0"/>
                <a:ea typeface="Georgia" pitchFamily="34" charset="-122"/>
                <a:cs typeface="Georgia" pitchFamily="34" charset="-120"/>
              </a:rPr>
              <a:t>♦   </a:t>
            </a:r>
            <a:pPr indent="0" marL="0">
              <a:buNone/>
            </a:pPr>
            <a:r>
              <a:rPr lang="en-US" sz="1250" dirty="0">
                <a:solidFill>
                  <a:srgbClr val="111E38"/>
                </a:solidFill>
                <a:latin typeface="Arial" pitchFamily="34" charset="0"/>
                <a:ea typeface="Arial" pitchFamily="34" charset="-122"/>
                <a:cs typeface="Arial" pitchFamily="34" charset="-120"/>
              </a:rPr>
              <a:t>Threat intelligence detail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365760" y="365760"/>
            <a:ext cx="11457432" cy="6126480"/>
          </a:xfrm>
          <a:prstGeom prst="rect">
            <a:avLst/>
          </a:prstGeom>
          <a:solidFill>
            <a:srgbClr val="FAF7F2"/>
          </a:solidFill>
          <a:ln w="12700">
            <a:solidFill>
              <a:srgbClr val="E0D4C0"/>
            </a:solidFill>
            <a:prstDash val="solid"/>
          </a:ln>
        </p:spPr>
      </p:sp>
      <p:sp>
        <p:nvSpPr>
          <p:cNvPr id="3" name="Text 1"/>
          <p:cNvSpPr txBox="1"/>
          <p:nvPr/>
        </p:nvSpPr>
        <p:spPr>
          <a:xfrm>
            <a:off x="731520" y="566928"/>
            <a:ext cx="8229600" cy="274320"/>
          </a:xfrm>
          <a:prstGeom prst="rect">
            <a:avLst/>
          </a:prstGeom>
          <a:noFill/>
          <a:ln/>
        </p:spPr>
        <p:txBody>
          <a:bodyPr wrap="square" lIns="0" tIns="0" rIns="0" bIns="0" rtlCol="0" anchor="ctr"/>
          <a:lstStyle/>
          <a:p>
            <a:pPr indent="0" marL="0">
              <a:buNone/>
            </a:pPr>
            <a:r>
              <a:rPr lang="en-US" sz="1200" b="1" spc="240" kern="0" dirty="0">
                <a:solidFill>
                  <a:srgbClr val="B58A42"/>
                </a:solidFill>
                <a:latin typeface="Arial" pitchFamily="34" charset="0"/>
                <a:ea typeface="Arial" pitchFamily="34" charset="-122"/>
                <a:cs typeface="Arial" pitchFamily="34" charset="-120"/>
              </a:rPr>
              <a:t>V. OBJECTIVE III</a:t>
            </a:r>
            <a:endParaRPr lang="en-US" sz="1200" dirty="0"/>
          </a:p>
        </p:txBody>
      </p:sp>
      <p:sp>
        <p:nvSpPr>
          <p:cNvPr id="4" name="Text 2"/>
          <p:cNvSpPr txBox="1"/>
          <p:nvPr/>
        </p:nvSpPr>
        <p:spPr>
          <a:xfrm>
            <a:off x="731520" y="877824"/>
            <a:ext cx="10725912" cy="658368"/>
          </a:xfrm>
          <a:prstGeom prst="rect">
            <a:avLst/>
          </a:prstGeom>
          <a:noFill/>
          <a:ln/>
        </p:spPr>
        <p:txBody>
          <a:bodyPr wrap="square" lIns="0" tIns="0" rIns="0" bIns="0" rtlCol="0" anchor="ctr"/>
          <a:lstStyle/>
          <a:p>
            <a:pPr indent="0" marL="0">
              <a:buNone/>
            </a:pPr>
            <a:r>
              <a:rPr lang="en-US" sz="3000" b="1" dirty="0">
                <a:solidFill>
                  <a:srgbClr val="111E38"/>
                </a:solidFill>
                <a:latin typeface="Georgia" pitchFamily="34" charset="0"/>
                <a:ea typeface="Georgia" pitchFamily="34" charset="-122"/>
                <a:cs typeface="Georgia" pitchFamily="34" charset="-120"/>
              </a:rPr>
              <a:t>Making Investigation Simple</a:t>
            </a:r>
            <a:endParaRPr lang="en-US" sz="3000" dirty="0"/>
          </a:p>
        </p:txBody>
      </p:sp>
      <p:sp>
        <p:nvSpPr>
          <p:cNvPr id="5" name="Shape 3"/>
          <p:cNvSpPr/>
          <p:nvPr/>
        </p:nvSpPr>
        <p:spPr>
          <a:xfrm>
            <a:off x="731520" y="1645920"/>
            <a:ext cx="10725912" cy="18288"/>
          </a:xfrm>
          <a:prstGeom prst="rect">
            <a:avLst/>
          </a:prstGeom>
          <a:solidFill>
            <a:srgbClr val="B58A42"/>
          </a:solidFill>
          <a:ln w="12700">
            <a:solidFill>
              <a:srgbClr val="B58A42"/>
            </a:solidFill>
            <a:prstDash val="solid"/>
          </a:ln>
        </p:spPr>
      </p:sp>
      <p:sp>
        <p:nvSpPr>
          <p:cNvPr id="6" name="Shape 4"/>
          <p:cNvSpPr/>
          <p:nvPr/>
        </p:nvSpPr>
        <p:spPr>
          <a:xfrm>
            <a:off x="731520" y="2057400"/>
            <a:ext cx="6309360" cy="3611880"/>
          </a:xfrm>
          <a:prstGeom prst="rect">
            <a:avLst/>
          </a:prstGeom>
          <a:solidFill>
            <a:srgbClr val="FFFCF9"/>
          </a:solidFill>
          <a:ln w="9525">
            <a:solidFill>
              <a:srgbClr val="E0D4C0"/>
            </a:solidFill>
            <a:prstDash val="solid"/>
          </a:ln>
        </p:spPr>
      </p:sp>
      <p:sp>
        <p:nvSpPr>
          <p:cNvPr id="7" name="Shape 5"/>
          <p:cNvSpPr/>
          <p:nvPr/>
        </p:nvSpPr>
        <p:spPr>
          <a:xfrm>
            <a:off x="731520" y="2468880"/>
            <a:ext cx="6309360" cy="9144"/>
          </a:xfrm>
          <a:prstGeom prst="rect">
            <a:avLst/>
          </a:prstGeom>
          <a:solidFill>
            <a:srgbClr val="E0D4C0"/>
          </a:solidFill>
          <a:ln w="12700">
            <a:solidFill>
              <a:srgbClr val="E0D4C0"/>
            </a:solidFill>
            <a:prstDash val="solid"/>
          </a:ln>
        </p:spPr>
      </p:sp>
      <p:sp>
        <p:nvSpPr>
          <p:cNvPr id="8" name="Text 6"/>
          <p:cNvSpPr txBox="1"/>
          <p:nvPr/>
        </p:nvSpPr>
        <p:spPr>
          <a:xfrm>
            <a:off x="960120" y="2057400"/>
            <a:ext cx="4114800" cy="411480"/>
          </a:xfrm>
          <a:prstGeom prst="rect">
            <a:avLst/>
          </a:prstGeom>
          <a:noFill/>
          <a:ln/>
        </p:spPr>
        <p:txBody>
          <a:bodyPr wrap="square" lIns="0" tIns="0" rIns="0" bIns="0" rtlCol="0" anchor="ctr"/>
          <a:lstStyle/>
          <a:p>
            <a:pPr indent="0" marL="0">
              <a:buNone/>
            </a:pPr>
            <a:r>
              <a:rPr lang="en-US" sz="1200" b="1" dirty="0">
                <a:solidFill>
                  <a:srgbClr val="111E38"/>
                </a:solidFill>
                <a:latin typeface="Georgia" pitchFamily="34" charset="0"/>
                <a:ea typeface="Georgia" pitchFamily="34" charset="-122"/>
                <a:cs typeface="Georgia" pitchFamily="34" charset="-120"/>
              </a:rPr>
              <a:t>Network Traffic Analysis — Dashboard</a:t>
            </a:r>
            <a:endParaRPr lang="en-US" sz="1200" dirty="0"/>
          </a:p>
        </p:txBody>
      </p:sp>
      <p:sp>
        <p:nvSpPr>
          <p:cNvPr id="9" name="Text 7"/>
          <p:cNvSpPr txBox="1"/>
          <p:nvPr/>
        </p:nvSpPr>
        <p:spPr>
          <a:xfrm>
            <a:off x="960120" y="2660904"/>
            <a:ext cx="1767840" cy="237744"/>
          </a:xfrm>
          <a:prstGeom prst="rect">
            <a:avLst/>
          </a:prstGeom>
          <a:noFill/>
          <a:ln/>
        </p:spPr>
        <p:txBody>
          <a:bodyPr wrap="square" lIns="0" tIns="0" rIns="0" bIns="0" rtlCol="0" anchor="ctr"/>
          <a:lstStyle/>
          <a:p>
            <a:pPr algn="l" indent="0" marL="0">
              <a:buNone/>
            </a:pPr>
            <a:r>
              <a:rPr lang="en-US" sz="1050" b="1" spc="180" kern="0" dirty="0">
                <a:solidFill>
                  <a:srgbClr val="B58A42"/>
                </a:solidFill>
                <a:latin typeface="Arial" pitchFamily="34" charset="0"/>
                <a:ea typeface="Arial" pitchFamily="34" charset="-122"/>
                <a:cs typeface="Arial" pitchFamily="34" charset="-120"/>
              </a:rPr>
              <a:t>PACKETS PARSED</a:t>
            </a:r>
            <a:endParaRPr lang="en-US" sz="1050" dirty="0"/>
          </a:p>
        </p:txBody>
      </p:sp>
      <p:sp>
        <p:nvSpPr>
          <p:cNvPr id="10" name="Shape 8"/>
          <p:cNvSpPr/>
          <p:nvPr/>
        </p:nvSpPr>
        <p:spPr>
          <a:xfrm>
            <a:off x="960120" y="2990088"/>
            <a:ext cx="914400" cy="50292"/>
          </a:xfrm>
          <a:prstGeom prst="rect">
            <a:avLst/>
          </a:prstGeom>
          <a:solidFill>
            <a:srgbClr val="E0D4C0"/>
          </a:solidFill>
          <a:ln w="12700">
            <a:solidFill>
              <a:srgbClr val="E0D4C0"/>
            </a:solidFill>
            <a:prstDash val="solid"/>
          </a:ln>
        </p:spPr>
      </p:sp>
      <p:sp>
        <p:nvSpPr>
          <p:cNvPr id="11" name="Text 9"/>
          <p:cNvSpPr txBox="1"/>
          <p:nvPr/>
        </p:nvSpPr>
        <p:spPr>
          <a:xfrm>
            <a:off x="2910840" y="2660904"/>
            <a:ext cx="1767840" cy="237744"/>
          </a:xfrm>
          <a:prstGeom prst="rect">
            <a:avLst/>
          </a:prstGeom>
          <a:noFill/>
          <a:ln/>
        </p:spPr>
        <p:txBody>
          <a:bodyPr wrap="square" lIns="0" tIns="0" rIns="0" bIns="0" rtlCol="0" anchor="ctr"/>
          <a:lstStyle/>
          <a:p>
            <a:pPr algn="l" indent="0" marL="0">
              <a:buNone/>
            </a:pPr>
            <a:r>
              <a:rPr lang="en-US" sz="1050" b="1" spc="180" kern="0" dirty="0">
                <a:solidFill>
                  <a:srgbClr val="B58A42"/>
                </a:solidFill>
                <a:latin typeface="Arial" pitchFamily="34" charset="0"/>
                <a:ea typeface="Arial" pitchFamily="34" charset="-122"/>
                <a:cs typeface="Arial" pitchFamily="34" charset="-120"/>
              </a:rPr>
              <a:t>DETECTIONS</a:t>
            </a:r>
            <a:endParaRPr lang="en-US" sz="1050" dirty="0"/>
          </a:p>
        </p:txBody>
      </p:sp>
      <p:sp>
        <p:nvSpPr>
          <p:cNvPr id="12" name="Shape 10"/>
          <p:cNvSpPr/>
          <p:nvPr/>
        </p:nvSpPr>
        <p:spPr>
          <a:xfrm>
            <a:off x="2910840" y="2990088"/>
            <a:ext cx="914400" cy="50292"/>
          </a:xfrm>
          <a:prstGeom prst="rect">
            <a:avLst/>
          </a:prstGeom>
          <a:solidFill>
            <a:srgbClr val="E0D4C0"/>
          </a:solidFill>
          <a:ln w="12700">
            <a:solidFill>
              <a:srgbClr val="E0D4C0"/>
            </a:solidFill>
            <a:prstDash val="solid"/>
          </a:ln>
        </p:spPr>
      </p:sp>
      <p:sp>
        <p:nvSpPr>
          <p:cNvPr id="13" name="Text 11"/>
          <p:cNvSpPr txBox="1"/>
          <p:nvPr/>
        </p:nvSpPr>
        <p:spPr>
          <a:xfrm>
            <a:off x="4861560" y="2660904"/>
            <a:ext cx="1767840" cy="237744"/>
          </a:xfrm>
          <a:prstGeom prst="rect">
            <a:avLst/>
          </a:prstGeom>
          <a:noFill/>
          <a:ln/>
        </p:spPr>
        <p:txBody>
          <a:bodyPr wrap="square" lIns="0" tIns="0" rIns="0" bIns="0" rtlCol="0" anchor="ctr"/>
          <a:lstStyle/>
          <a:p>
            <a:pPr algn="l" indent="0" marL="0">
              <a:buNone/>
            </a:pPr>
            <a:r>
              <a:rPr lang="en-US" sz="1050" b="1" spc="180" kern="0" dirty="0">
                <a:solidFill>
                  <a:srgbClr val="B58A42"/>
                </a:solidFill>
                <a:latin typeface="Arial" pitchFamily="34" charset="0"/>
                <a:ea typeface="Arial" pitchFamily="34" charset="-122"/>
                <a:cs typeface="Arial" pitchFamily="34" charset="-120"/>
              </a:rPr>
              <a:t>FLAGGED IPs</a:t>
            </a:r>
            <a:endParaRPr lang="en-US" sz="1050" dirty="0"/>
          </a:p>
        </p:txBody>
      </p:sp>
      <p:sp>
        <p:nvSpPr>
          <p:cNvPr id="14" name="Shape 12"/>
          <p:cNvSpPr/>
          <p:nvPr/>
        </p:nvSpPr>
        <p:spPr>
          <a:xfrm>
            <a:off x="4861560" y="2990088"/>
            <a:ext cx="914400" cy="50292"/>
          </a:xfrm>
          <a:prstGeom prst="rect">
            <a:avLst/>
          </a:prstGeom>
          <a:solidFill>
            <a:srgbClr val="E0D4C0"/>
          </a:solidFill>
          <a:ln w="12700">
            <a:solidFill>
              <a:srgbClr val="E0D4C0"/>
            </a:solidFill>
            <a:prstDash val="solid"/>
          </a:ln>
        </p:spPr>
      </p:sp>
      <p:sp>
        <p:nvSpPr>
          <p:cNvPr id="15" name="Shape 13"/>
          <p:cNvSpPr/>
          <p:nvPr/>
        </p:nvSpPr>
        <p:spPr>
          <a:xfrm>
            <a:off x="960120" y="3264408"/>
            <a:ext cx="5852160" cy="9144"/>
          </a:xfrm>
          <a:prstGeom prst="rect">
            <a:avLst/>
          </a:prstGeom>
          <a:solidFill>
            <a:srgbClr val="E0D4C0"/>
          </a:solidFill>
          <a:ln w="12700">
            <a:solidFill>
              <a:srgbClr val="E0D4C0"/>
            </a:solidFill>
            <a:prstDash val="solid"/>
          </a:ln>
        </p:spPr>
      </p:sp>
      <p:sp>
        <p:nvSpPr>
          <p:cNvPr id="16" name="Text 14"/>
          <p:cNvSpPr txBox="1"/>
          <p:nvPr/>
        </p:nvSpPr>
        <p:spPr>
          <a:xfrm>
            <a:off x="960120" y="3383280"/>
            <a:ext cx="1371600" cy="274320"/>
          </a:xfrm>
          <a:prstGeom prst="rect">
            <a:avLst/>
          </a:prstGeom>
          <a:noFill/>
          <a:ln/>
        </p:spPr>
        <p:txBody>
          <a:bodyPr wrap="square" lIns="0" tIns="0" rIns="0" bIns="0" rtlCol="0" anchor="ctr"/>
          <a:lstStyle/>
          <a:p>
            <a:pPr indent="0" marL="0">
              <a:buNone/>
            </a:pPr>
            <a:r>
              <a:rPr lang="en-US" sz="950" b="1" spc="100" kern="0" dirty="0">
                <a:solidFill>
                  <a:srgbClr val="B58A42"/>
                </a:solidFill>
                <a:latin typeface="Arial" pitchFamily="34" charset="0"/>
                <a:ea typeface="Arial" pitchFamily="34" charset="-122"/>
                <a:cs typeface="Arial" pitchFamily="34" charset="-120"/>
              </a:rPr>
              <a:t>TIME</a:t>
            </a:r>
            <a:endParaRPr lang="en-US" sz="950" dirty="0"/>
          </a:p>
        </p:txBody>
      </p:sp>
      <p:sp>
        <p:nvSpPr>
          <p:cNvPr id="17" name="Text 15"/>
          <p:cNvSpPr txBox="1"/>
          <p:nvPr/>
        </p:nvSpPr>
        <p:spPr>
          <a:xfrm>
            <a:off x="2057400" y="3383280"/>
            <a:ext cx="1371600" cy="274320"/>
          </a:xfrm>
          <a:prstGeom prst="rect">
            <a:avLst/>
          </a:prstGeom>
          <a:noFill/>
          <a:ln/>
        </p:spPr>
        <p:txBody>
          <a:bodyPr wrap="square" lIns="0" tIns="0" rIns="0" bIns="0" rtlCol="0" anchor="ctr"/>
          <a:lstStyle/>
          <a:p>
            <a:pPr indent="0" marL="0">
              <a:buNone/>
            </a:pPr>
            <a:r>
              <a:rPr lang="en-US" sz="950" b="1" spc="100" kern="0" dirty="0">
                <a:solidFill>
                  <a:srgbClr val="B58A42"/>
                </a:solidFill>
                <a:latin typeface="Arial" pitchFamily="34" charset="0"/>
                <a:ea typeface="Arial" pitchFamily="34" charset="-122"/>
                <a:cs typeface="Arial" pitchFamily="34" charset="-120"/>
              </a:rPr>
              <a:t>SOURCE IP</a:t>
            </a:r>
            <a:endParaRPr lang="en-US" sz="950" dirty="0"/>
          </a:p>
        </p:txBody>
      </p:sp>
      <p:sp>
        <p:nvSpPr>
          <p:cNvPr id="18" name="Text 16"/>
          <p:cNvSpPr txBox="1"/>
          <p:nvPr/>
        </p:nvSpPr>
        <p:spPr>
          <a:xfrm>
            <a:off x="3337560" y="3383280"/>
            <a:ext cx="1371600" cy="274320"/>
          </a:xfrm>
          <a:prstGeom prst="rect">
            <a:avLst/>
          </a:prstGeom>
          <a:noFill/>
          <a:ln/>
        </p:spPr>
        <p:txBody>
          <a:bodyPr wrap="square" lIns="0" tIns="0" rIns="0" bIns="0" rtlCol="0" anchor="ctr"/>
          <a:lstStyle/>
          <a:p>
            <a:pPr indent="0" marL="0">
              <a:buNone/>
            </a:pPr>
            <a:r>
              <a:rPr lang="en-US" sz="950" b="1" spc="100" kern="0" dirty="0">
                <a:solidFill>
                  <a:srgbClr val="B58A42"/>
                </a:solidFill>
                <a:latin typeface="Arial" pitchFamily="34" charset="0"/>
                <a:ea typeface="Arial" pitchFamily="34" charset="-122"/>
                <a:cs typeface="Arial" pitchFamily="34" charset="-120"/>
              </a:rPr>
              <a:t>DETECTION</a:t>
            </a:r>
            <a:endParaRPr lang="en-US" sz="950" dirty="0"/>
          </a:p>
        </p:txBody>
      </p:sp>
      <p:sp>
        <p:nvSpPr>
          <p:cNvPr id="19" name="Text 17"/>
          <p:cNvSpPr txBox="1"/>
          <p:nvPr/>
        </p:nvSpPr>
        <p:spPr>
          <a:xfrm>
            <a:off x="4800600" y="3383280"/>
            <a:ext cx="1371600" cy="274320"/>
          </a:xfrm>
          <a:prstGeom prst="rect">
            <a:avLst/>
          </a:prstGeom>
          <a:noFill/>
          <a:ln/>
        </p:spPr>
        <p:txBody>
          <a:bodyPr wrap="square" lIns="0" tIns="0" rIns="0" bIns="0" rtlCol="0" anchor="ctr"/>
          <a:lstStyle/>
          <a:p>
            <a:pPr indent="0" marL="0">
              <a:buNone/>
            </a:pPr>
            <a:r>
              <a:rPr lang="en-US" sz="950" b="1" spc="100" kern="0" dirty="0">
                <a:solidFill>
                  <a:srgbClr val="B58A42"/>
                </a:solidFill>
                <a:latin typeface="Arial" pitchFamily="34" charset="0"/>
                <a:ea typeface="Arial" pitchFamily="34" charset="-122"/>
                <a:cs typeface="Arial" pitchFamily="34" charset="-120"/>
              </a:rPr>
              <a:t>MITRE ID</a:t>
            </a:r>
            <a:endParaRPr lang="en-US" sz="950" dirty="0"/>
          </a:p>
        </p:txBody>
      </p:sp>
      <p:sp>
        <p:nvSpPr>
          <p:cNvPr id="20" name="Text 18"/>
          <p:cNvSpPr txBox="1"/>
          <p:nvPr/>
        </p:nvSpPr>
        <p:spPr>
          <a:xfrm>
            <a:off x="5897880" y="3383280"/>
            <a:ext cx="1371600" cy="274320"/>
          </a:xfrm>
          <a:prstGeom prst="rect">
            <a:avLst/>
          </a:prstGeom>
          <a:noFill/>
          <a:ln/>
        </p:spPr>
        <p:txBody>
          <a:bodyPr wrap="square" lIns="0" tIns="0" rIns="0" bIns="0" rtlCol="0" anchor="ctr"/>
          <a:lstStyle/>
          <a:p>
            <a:pPr indent="0" marL="0">
              <a:buNone/>
            </a:pPr>
            <a:r>
              <a:rPr lang="en-US" sz="950" b="1" spc="100" kern="0" dirty="0">
                <a:solidFill>
                  <a:srgbClr val="B58A42"/>
                </a:solidFill>
                <a:latin typeface="Arial" pitchFamily="34" charset="0"/>
                <a:ea typeface="Arial" pitchFamily="34" charset="-122"/>
                <a:cs typeface="Arial" pitchFamily="34" charset="-120"/>
              </a:rPr>
              <a:t>REPUTATION</a:t>
            </a:r>
            <a:endParaRPr lang="en-US" sz="950" dirty="0"/>
          </a:p>
        </p:txBody>
      </p:sp>
      <p:sp>
        <p:nvSpPr>
          <p:cNvPr id="21" name="Shape 19"/>
          <p:cNvSpPr/>
          <p:nvPr/>
        </p:nvSpPr>
        <p:spPr>
          <a:xfrm>
            <a:off x="960120" y="3685032"/>
            <a:ext cx="5852160" cy="9144"/>
          </a:xfrm>
          <a:prstGeom prst="rect">
            <a:avLst/>
          </a:prstGeom>
          <a:solidFill>
            <a:srgbClr val="E0D4C0"/>
          </a:solidFill>
          <a:ln w="12700">
            <a:solidFill>
              <a:srgbClr val="E0D4C0"/>
            </a:solidFill>
            <a:prstDash val="solid"/>
          </a:ln>
        </p:spPr>
      </p:sp>
      <p:sp>
        <p:nvSpPr>
          <p:cNvPr id="22" name="Shape 20"/>
          <p:cNvSpPr/>
          <p:nvPr/>
        </p:nvSpPr>
        <p:spPr>
          <a:xfrm>
            <a:off x="960120" y="3840480"/>
            <a:ext cx="822960" cy="68580"/>
          </a:xfrm>
          <a:prstGeom prst="rect">
            <a:avLst/>
          </a:prstGeom>
          <a:solidFill>
            <a:srgbClr val="E0D4C0"/>
          </a:solidFill>
          <a:ln w="12700">
            <a:solidFill>
              <a:srgbClr val="E0D4C0"/>
            </a:solidFill>
            <a:prstDash val="solid"/>
          </a:ln>
        </p:spPr>
      </p:sp>
      <p:sp>
        <p:nvSpPr>
          <p:cNvPr id="23" name="Shape 21"/>
          <p:cNvSpPr/>
          <p:nvPr/>
        </p:nvSpPr>
        <p:spPr>
          <a:xfrm>
            <a:off x="2057400" y="3840480"/>
            <a:ext cx="1051560" cy="68580"/>
          </a:xfrm>
          <a:prstGeom prst="rect">
            <a:avLst/>
          </a:prstGeom>
          <a:solidFill>
            <a:srgbClr val="E0D4C0"/>
          </a:solidFill>
          <a:ln w="12700">
            <a:solidFill>
              <a:srgbClr val="E0D4C0"/>
            </a:solidFill>
            <a:prstDash val="solid"/>
          </a:ln>
        </p:spPr>
      </p:sp>
      <p:sp>
        <p:nvSpPr>
          <p:cNvPr id="24" name="Shape 22"/>
          <p:cNvSpPr/>
          <p:nvPr/>
        </p:nvSpPr>
        <p:spPr>
          <a:xfrm>
            <a:off x="3337560" y="3840480"/>
            <a:ext cx="1280160" cy="68580"/>
          </a:xfrm>
          <a:prstGeom prst="rect">
            <a:avLst/>
          </a:prstGeom>
          <a:solidFill>
            <a:srgbClr val="E0D4C0"/>
          </a:solidFill>
          <a:ln w="12700">
            <a:solidFill>
              <a:srgbClr val="E0D4C0"/>
            </a:solidFill>
            <a:prstDash val="solid"/>
          </a:ln>
        </p:spPr>
      </p:sp>
      <p:sp>
        <p:nvSpPr>
          <p:cNvPr id="25" name="Shape 23"/>
          <p:cNvSpPr/>
          <p:nvPr/>
        </p:nvSpPr>
        <p:spPr>
          <a:xfrm>
            <a:off x="4800600" y="3840480"/>
            <a:ext cx="777240" cy="68580"/>
          </a:xfrm>
          <a:prstGeom prst="rect">
            <a:avLst/>
          </a:prstGeom>
          <a:solidFill>
            <a:srgbClr val="E0D4C0"/>
          </a:solidFill>
          <a:ln w="12700">
            <a:solidFill>
              <a:srgbClr val="E0D4C0"/>
            </a:solidFill>
            <a:prstDash val="solid"/>
          </a:ln>
        </p:spPr>
      </p:sp>
      <p:sp>
        <p:nvSpPr>
          <p:cNvPr id="26" name="Shape 24"/>
          <p:cNvSpPr/>
          <p:nvPr/>
        </p:nvSpPr>
        <p:spPr>
          <a:xfrm>
            <a:off x="5897880" y="3840480"/>
            <a:ext cx="914400" cy="68580"/>
          </a:xfrm>
          <a:prstGeom prst="rect">
            <a:avLst/>
          </a:prstGeom>
          <a:solidFill>
            <a:srgbClr val="E0D4C0"/>
          </a:solidFill>
          <a:ln w="12700">
            <a:solidFill>
              <a:srgbClr val="E0D4C0"/>
            </a:solidFill>
            <a:prstDash val="solid"/>
          </a:ln>
        </p:spPr>
      </p:sp>
      <p:sp>
        <p:nvSpPr>
          <p:cNvPr id="27" name="Shape 25"/>
          <p:cNvSpPr/>
          <p:nvPr/>
        </p:nvSpPr>
        <p:spPr>
          <a:xfrm>
            <a:off x="960120" y="4096512"/>
            <a:ext cx="5852160" cy="7315"/>
          </a:xfrm>
          <a:prstGeom prst="rect">
            <a:avLst/>
          </a:prstGeom>
          <a:solidFill>
            <a:srgbClr val="E0D4C0"/>
          </a:solidFill>
          <a:ln w="12700">
            <a:solidFill>
              <a:srgbClr val="E0D4C0"/>
            </a:solidFill>
            <a:prstDash val="solid"/>
          </a:ln>
        </p:spPr>
      </p:sp>
      <p:sp>
        <p:nvSpPr>
          <p:cNvPr id="28" name="Shape 26"/>
          <p:cNvSpPr/>
          <p:nvPr/>
        </p:nvSpPr>
        <p:spPr>
          <a:xfrm>
            <a:off x="960120" y="4224528"/>
            <a:ext cx="822960" cy="68580"/>
          </a:xfrm>
          <a:prstGeom prst="rect">
            <a:avLst/>
          </a:prstGeom>
          <a:solidFill>
            <a:srgbClr val="E0D4C0"/>
          </a:solidFill>
          <a:ln w="12700">
            <a:solidFill>
              <a:srgbClr val="E0D4C0"/>
            </a:solidFill>
            <a:prstDash val="solid"/>
          </a:ln>
        </p:spPr>
      </p:sp>
      <p:sp>
        <p:nvSpPr>
          <p:cNvPr id="29" name="Shape 27"/>
          <p:cNvSpPr/>
          <p:nvPr/>
        </p:nvSpPr>
        <p:spPr>
          <a:xfrm>
            <a:off x="2057400" y="4224528"/>
            <a:ext cx="1051560" cy="68580"/>
          </a:xfrm>
          <a:prstGeom prst="rect">
            <a:avLst/>
          </a:prstGeom>
          <a:solidFill>
            <a:srgbClr val="E0D4C0"/>
          </a:solidFill>
          <a:ln w="12700">
            <a:solidFill>
              <a:srgbClr val="E0D4C0"/>
            </a:solidFill>
            <a:prstDash val="solid"/>
          </a:ln>
        </p:spPr>
      </p:sp>
      <p:sp>
        <p:nvSpPr>
          <p:cNvPr id="30" name="Shape 28"/>
          <p:cNvSpPr/>
          <p:nvPr/>
        </p:nvSpPr>
        <p:spPr>
          <a:xfrm>
            <a:off x="3337560" y="4224528"/>
            <a:ext cx="1280160" cy="68580"/>
          </a:xfrm>
          <a:prstGeom prst="rect">
            <a:avLst/>
          </a:prstGeom>
          <a:solidFill>
            <a:srgbClr val="E0D4C0"/>
          </a:solidFill>
          <a:ln w="12700">
            <a:solidFill>
              <a:srgbClr val="E0D4C0"/>
            </a:solidFill>
            <a:prstDash val="solid"/>
          </a:ln>
        </p:spPr>
      </p:sp>
      <p:sp>
        <p:nvSpPr>
          <p:cNvPr id="31" name="Shape 29"/>
          <p:cNvSpPr/>
          <p:nvPr/>
        </p:nvSpPr>
        <p:spPr>
          <a:xfrm>
            <a:off x="4800600" y="4224528"/>
            <a:ext cx="777240" cy="68580"/>
          </a:xfrm>
          <a:prstGeom prst="rect">
            <a:avLst/>
          </a:prstGeom>
          <a:solidFill>
            <a:srgbClr val="E0D4C0"/>
          </a:solidFill>
          <a:ln w="12700">
            <a:solidFill>
              <a:srgbClr val="E0D4C0"/>
            </a:solidFill>
            <a:prstDash val="solid"/>
          </a:ln>
        </p:spPr>
      </p:sp>
      <p:sp>
        <p:nvSpPr>
          <p:cNvPr id="32" name="Shape 30"/>
          <p:cNvSpPr/>
          <p:nvPr/>
        </p:nvSpPr>
        <p:spPr>
          <a:xfrm>
            <a:off x="5897880" y="4224528"/>
            <a:ext cx="914400" cy="68580"/>
          </a:xfrm>
          <a:prstGeom prst="rect">
            <a:avLst/>
          </a:prstGeom>
          <a:solidFill>
            <a:srgbClr val="B58A42"/>
          </a:solidFill>
          <a:ln w="12700">
            <a:solidFill>
              <a:srgbClr val="B58A42"/>
            </a:solidFill>
            <a:prstDash val="solid"/>
          </a:ln>
        </p:spPr>
      </p:sp>
      <p:sp>
        <p:nvSpPr>
          <p:cNvPr id="33" name="Shape 31"/>
          <p:cNvSpPr/>
          <p:nvPr/>
        </p:nvSpPr>
        <p:spPr>
          <a:xfrm>
            <a:off x="960120" y="4480560"/>
            <a:ext cx="5852160" cy="7315"/>
          </a:xfrm>
          <a:prstGeom prst="rect">
            <a:avLst/>
          </a:prstGeom>
          <a:solidFill>
            <a:srgbClr val="E0D4C0"/>
          </a:solidFill>
          <a:ln w="12700">
            <a:solidFill>
              <a:srgbClr val="E0D4C0"/>
            </a:solidFill>
            <a:prstDash val="solid"/>
          </a:ln>
        </p:spPr>
      </p:sp>
      <p:sp>
        <p:nvSpPr>
          <p:cNvPr id="34" name="Shape 32"/>
          <p:cNvSpPr/>
          <p:nvPr/>
        </p:nvSpPr>
        <p:spPr>
          <a:xfrm>
            <a:off x="960120" y="4608576"/>
            <a:ext cx="822960" cy="68580"/>
          </a:xfrm>
          <a:prstGeom prst="rect">
            <a:avLst/>
          </a:prstGeom>
          <a:solidFill>
            <a:srgbClr val="E0D4C0"/>
          </a:solidFill>
          <a:ln w="12700">
            <a:solidFill>
              <a:srgbClr val="E0D4C0"/>
            </a:solidFill>
            <a:prstDash val="solid"/>
          </a:ln>
        </p:spPr>
      </p:sp>
      <p:sp>
        <p:nvSpPr>
          <p:cNvPr id="35" name="Shape 33"/>
          <p:cNvSpPr/>
          <p:nvPr/>
        </p:nvSpPr>
        <p:spPr>
          <a:xfrm>
            <a:off x="2057400" y="4608576"/>
            <a:ext cx="1051560" cy="68580"/>
          </a:xfrm>
          <a:prstGeom prst="rect">
            <a:avLst/>
          </a:prstGeom>
          <a:solidFill>
            <a:srgbClr val="E0D4C0"/>
          </a:solidFill>
          <a:ln w="12700">
            <a:solidFill>
              <a:srgbClr val="E0D4C0"/>
            </a:solidFill>
            <a:prstDash val="solid"/>
          </a:ln>
        </p:spPr>
      </p:sp>
      <p:sp>
        <p:nvSpPr>
          <p:cNvPr id="36" name="Shape 34"/>
          <p:cNvSpPr/>
          <p:nvPr/>
        </p:nvSpPr>
        <p:spPr>
          <a:xfrm>
            <a:off x="3337560" y="4608576"/>
            <a:ext cx="1280160" cy="68580"/>
          </a:xfrm>
          <a:prstGeom prst="rect">
            <a:avLst/>
          </a:prstGeom>
          <a:solidFill>
            <a:srgbClr val="E0D4C0"/>
          </a:solidFill>
          <a:ln w="12700">
            <a:solidFill>
              <a:srgbClr val="E0D4C0"/>
            </a:solidFill>
            <a:prstDash val="solid"/>
          </a:ln>
        </p:spPr>
      </p:sp>
      <p:sp>
        <p:nvSpPr>
          <p:cNvPr id="37" name="Shape 35"/>
          <p:cNvSpPr/>
          <p:nvPr/>
        </p:nvSpPr>
        <p:spPr>
          <a:xfrm>
            <a:off x="4800600" y="4608576"/>
            <a:ext cx="777240" cy="68580"/>
          </a:xfrm>
          <a:prstGeom prst="rect">
            <a:avLst/>
          </a:prstGeom>
          <a:solidFill>
            <a:srgbClr val="E0D4C0"/>
          </a:solidFill>
          <a:ln w="12700">
            <a:solidFill>
              <a:srgbClr val="E0D4C0"/>
            </a:solidFill>
            <a:prstDash val="solid"/>
          </a:ln>
        </p:spPr>
      </p:sp>
      <p:sp>
        <p:nvSpPr>
          <p:cNvPr id="38" name="Shape 36"/>
          <p:cNvSpPr/>
          <p:nvPr/>
        </p:nvSpPr>
        <p:spPr>
          <a:xfrm>
            <a:off x="5897880" y="4608576"/>
            <a:ext cx="914400" cy="68580"/>
          </a:xfrm>
          <a:prstGeom prst="rect">
            <a:avLst/>
          </a:prstGeom>
          <a:solidFill>
            <a:srgbClr val="E0D4C0"/>
          </a:solidFill>
          <a:ln w="12700">
            <a:solidFill>
              <a:srgbClr val="E0D4C0"/>
            </a:solidFill>
            <a:prstDash val="solid"/>
          </a:ln>
        </p:spPr>
      </p:sp>
      <p:sp>
        <p:nvSpPr>
          <p:cNvPr id="39" name="Shape 37"/>
          <p:cNvSpPr/>
          <p:nvPr/>
        </p:nvSpPr>
        <p:spPr>
          <a:xfrm>
            <a:off x="960120" y="4864608"/>
            <a:ext cx="5852160" cy="7315"/>
          </a:xfrm>
          <a:prstGeom prst="rect">
            <a:avLst/>
          </a:prstGeom>
          <a:solidFill>
            <a:srgbClr val="E0D4C0"/>
          </a:solidFill>
          <a:ln w="12700">
            <a:solidFill>
              <a:srgbClr val="E0D4C0"/>
            </a:solidFill>
            <a:prstDash val="solid"/>
          </a:ln>
        </p:spPr>
      </p:sp>
      <p:sp>
        <p:nvSpPr>
          <p:cNvPr id="40" name="Shape 38"/>
          <p:cNvSpPr/>
          <p:nvPr/>
        </p:nvSpPr>
        <p:spPr>
          <a:xfrm>
            <a:off x="960120" y="4992624"/>
            <a:ext cx="822960" cy="68580"/>
          </a:xfrm>
          <a:prstGeom prst="rect">
            <a:avLst/>
          </a:prstGeom>
          <a:solidFill>
            <a:srgbClr val="E0D4C0"/>
          </a:solidFill>
          <a:ln w="12700">
            <a:solidFill>
              <a:srgbClr val="E0D4C0"/>
            </a:solidFill>
            <a:prstDash val="solid"/>
          </a:ln>
        </p:spPr>
      </p:sp>
      <p:sp>
        <p:nvSpPr>
          <p:cNvPr id="41" name="Shape 39"/>
          <p:cNvSpPr/>
          <p:nvPr/>
        </p:nvSpPr>
        <p:spPr>
          <a:xfrm>
            <a:off x="2057400" y="4992624"/>
            <a:ext cx="1051560" cy="68580"/>
          </a:xfrm>
          <a:prstGeom prst="rect">
            <a:avLst/>
          </a:prstGeom>
          <a:solidFill>
            <a:srgbClr val="E0D4C0"/>
          </a:solidFill>
          <a:ln w="12700">
            <a:solidFill>
              <a:srgbClr val="E0D4C0"/>
            </a:solidFill>
            <a:prstDash val="solid"/>
          </a:ln>
        </p:spPr>
      </p:sp>
      <p:sp>
        <p:nvSpPr>
          <p:cNvPr id="42" name="Shape 40"/>
          <p:cNvSpPr/>
          <p:nvPr/>
        </p:nvSpPr>
        <p:spPr>
          <a:xfrm>
            <a:off x="3337560" y="4992624"/>
            <a:ext cx="1280160" cy="68580"/>
          </a:xfrm>
          <a:prstGeom prst="rect">
            <a:avLst/>
          </a:prstGeom>
          <a:solidFill>
            <a:srgbClr val="E0D4C0"/>
          </a:solidFill>
          <a:ln w="12700">
            <a:solidFill>
              <a:srgbClr val="E0D4C0"/>
            </a:solidFill>
            <a:prstDash val="solid"/>
          </a:ln>
        </p:spPr>
      </p:sp>
      <p:sp>
        <p:nvSpPr>
          <p:cNvPr id="43" name="Shape 41"/>
          <p:cNvSpPr/>
          <p:nvPr/>
        </p:nvSpPr>
        <p:spPr>
          <a:xfrm>
            <a:off x="4800600" y="4992624"/>
            <a:ext cx="777240" cy="68580"/>
          </a:xfrm>
          <a:prstGeom prst="rect">
            <a:avLst/>
          </a:prstGeom>
          <a:solidFill>
            <a:srgbClr val="E0D4C0"/>
          </a:solidFill>
          <a:ln w="12700">
            <a:solidFill>
              <a:srgbClr val="E0D4C0"/>
            </a:solidFill>
            <a:prstDash val="solid"/>
          </a:ln>
        </p:spPr>
      </p:sp>
      <p:sp>
        <p:nvSpPr>
          <p:cNvPr id="44" name="Shape 42"/>
          <p:cNvSpPr/>
          <p:nvPr/>
        </p:nvSpPr>
        <p:spPr>
          <a:xfrm>
            <a:off x="5897880" y="4992624"/>
            <a:ext cx="914400" cy="68580"/>
          </a:xfrm>
          <a:prstGeom prst="rect">
            <a:avLst/>
          </a:prstGeom>
          <a:solidFill>
            <a:srgbClr val="E0D4C0"/>
          </a:solidFill>
          <a:ln w="12700">
            <a:solidFill>
              <a:srgbClr val="E0D4C0"/>
            </a:solidFill>
            <a:prstDash val="solid"/>
          </a:ln>
        </p:spPr>
      </p:sp>
      <p:sp>
        <p:nvSpPr>
          <p:cNvPr id="45" name="Text 43"/>
          <p:cNvSpPr txBox="1"/>
          <p:nvPr/>
        </p:nvSpPr>
        <p:spPr>
          <a:xfrm>
            <a:off x="731520" y="5779008"/>
            <a:ext cx="6309360" cy="256032"/>
          </a:xfrm>
          <a:prstGeom prst="rect">
            <a:avLst/>
          </a:prstGeom>
          <a:noFill/>
          <a:ln/>
        </p:spPr>
        <p:txBody>
          <a:bodyPr wrap="square" lIns="0" tIns="0" rIns="0" bIns="0" rtlCol="0" anchor="ctr"/>
          <a:lstStyle/>
          <a:p>
            <a:pPr indent="0" marL="0">
              <a:buNone/>
            </a:pPr>
            <a:r>
              <a:rPr lang="en-US" sz="1000" b="1" spc="140" kern="0" dirty="0">
                <a:solidFill>
                  <a:srgbClr val="4A586E"/>
                </a:solidFill>
                <a:latin typeface="Arial" pitchFamily="34" charset="0"/>
                <a:ea typeface="Arial" pitchFamily="34" charset="-122"/>
                <a:cs typeface="Arial" pitchFamily="34" charset="-120"/>
              </a:rPr>
              <a:t>CONCEPTUAL LAYOUT — NOT A FINAL SCREENSHOT</a:t>
            </a:r>
            <a:endParaRPr lang="en-US" sz="1000" dirty="0"/>
          </a:p>
        </p:txBody>
      </p:sp>
      <p:sp>
        <p:nvSpPr>
          <p:cNvPr id="46" name="Text 44"/>
          <p:cNvSpPr txBox="1"/>
          <p:nvPr/>
        </p:nvSpPr>
        <p:spPr>
          <a:xfrm>
            <a:off x="7178040" y="2084832"/>
            <a:ext cx="4279392" cy="237744"/>
          </a:xfrm>
          <a:prstGeom prst="rect">
            <a:avLst/>
          </a:prstGeom>
          <a:noFill/>
          <a:ln/>
        </p:spPr>
        <p:txBody>
          <a:bodyPr wrap="square" lIns="0" tIns="0" rIns="0" bIns="0" rtlCol="0" anchor="ctr"/>
          <a:lstStyle/>
          <a:p>
            <a:pPr algn="l" indent="0" marL="0">
              <a:buNone/>
            </a:pPr>
            <a:r>
              <a:rPr lang="en-US" sz="1050" b="1" spc="180" kern="0" dirty="0">
                <a:solidFill>
                  <a:srgbClr val="B58A42"/>
                </a:solidFill>
                <a:latin typeface="Arial" pitchFamily="34" charset="0"/>
                <a:ea typeface="Arial" pitchFamily="34" charset="-122"/>
                <a:cs typeface="Arial" pitchFamily="34" charset="-120"/>
              </a:rPr>
              <a:t>PLANNED FUNCTIONALITY</a:t>
            </a:r>
            <a:endParaRPr lang="en-US" sz="1050" dirty="0"/>
          </a:p>
        </p:txBody>
      </p:sp>
      <p:sp>
        <p:nvSpPr>
          <p:cNvPr id="47" name="Text 45"/>
          <p:cNvSpPr txBox="1"/>
          <p:nvPr/>
        </p:nvSpPr>
        <p:spPr>
          <a:xfrm>
            <a:off x="7178040" y="2395728"/>
            <a:ext cx="4279392" cy="1554480"/>
          </a:xfrm>
          <a:prstGeom prst="rect">
            <a:avLst/>
          </a:prstGeom>
          <a:noFill/>
          <a:ln/>
        </p:spPr>
        <p:txBody>
          <a:bodyPr wrap="square" lIns="0" tIns="0" rIns="0" bIns="0" rtlCol="0" anchor="t"/>
          <a:lstStyle/>
          <a:p>
            <a:pPr indent="0" marL="0">
              <a:buNone/>
            </a:pPr>
            <a:r>
              <a:rPr lang="en-US" sz="1250" b="1" dirty="0">
                <a:solidFill>
                  <a:srgbClr val="B58A42"/>
                </a:solidFill>
                <a:latin typeface="Georgia" pitchFamily="34" charset="0"/>
                <a:ea typeface="Georgia" pitchFamily="34" charset="-122"/>
                <a:cs typeface="Georgia" pitchFamily="34" charset="-120"/>
              </a:rPr>
              <a:t>♦   </a:t>
            </a:r>
            <a:pPr indent="0" marL="0">
              <a:spcAft>
                <a:spcPts val="1300"/>
              </a:spcAft>
              <a:buNone/>
            </a:pPr>
            <a:r>
              <a:rPr lang="en-US" sz="1350" dirty="0">
                <a:solidFill>
                  <a:srgbClr val="111E38"/>
                </a:solidFill>
                <a:latin typeface="Arial" pitchFamily="34" charset="0"/>
                <a:ea typeface="Arial" pitchFamily="34" charset="-122"/>
                <a:cs typeface="Arial" pitchFamily="34" charset="-120"/>
              </a:rPr>
              <a:t>View and filter detected events</a:t>
            </a:r>
            <a:endParaRPr lang="en-US" sz="1250" dirty="0"/>
          </a:p>
          <a:p>
            <a:pPr indent="0" marL="0">
              <a:buNone/>
            </a:pPr>
            <a:r>
              <a:rPr lang="en-US" sz="1250" b="1" dirty="0">
                <a:solidFill>
                  <a:srgbClr val="B58A42"/>
                </a:solidFill>
                <a:latin typeface="Georgia" pitchFamily="34" charset="0"/>
                <a:ea typeface="Georgia" pitchFamily="34" charset="-122"/>
                <a:cs typeface="Georgia" pitchFamily="34" charset="-120"/>
              </a:rPr>
              <a:t>♦   </a:t>
            </a:r>
            <a:pPr indent="0" marL="0">
              <a:spcAft>
                <a:spcPts val="1300"/>
              </a:spcAft>
              <a:buNone/>
            </a:pPr>
            <a:r>
              <a:rPr lang="en-US" sz="1350" dirty="0">
                <a:solidFill>
                  <a:srgbClr val="111E38"/>
                </a:solidFill>
                <a:latin typeface="Arial" pitchFamily="34" charset="0"/>
                <a:ea typeface="Arial" pitchFamily="34" charset="-122"/>
                <a:cs typeface="Arial" pitchFamily="34" charset="-120"/>
              </a:rPr>
              <a:t>Sort and drill into individual alerts</a:t>
            </a:r>
            <a:endParaRPr lang="en-US" sz="1250" dirty="0"/>
          </a:p>
          <a:p>
            <a:pPr indent="0" marL="0">
              <a:buNone/>
            </a:pPr>
            <a:r>
              <a:rPr lang="en-US" sz="1250" b="1" dirty="0">
                <a:solidFill>
                  <a:srgbClr val="B58A42"/>
                </a:solidFill>
                <a:latin typeface="Georgia" pitchFamily="34" charset="0"/>
                <a:ea typeface="Georgia" pitchFamily="34" charset="-122"/>
                <a:cs typeface="Georgia" pitchFamily="34" charset="-120"/>
              </a:rPr>
              <a:t>♦   </a:t>
            </a:r>
            <a:pPr indent="0" marL="0">
              <a:spcAft>
                <a:spcPts val="1300"/>
              </a:spcAft>
              <a:buNone/>
            </a:pPr>
            <a:r>
              <a:rPr lang="en-US" sz="1350" dirty="0">
                <a:solidFill>
                  <a:srgbClr val="111E38"/>
                </a:solidFill>
                <a:latin typeface="Arial" pitchFamily="34" charset="0"/>
                <a:ea typeface="Arial" pitchFamily="34" charset="-122"/>
                <a:cs typeface="Arial" pitchFamily="34" charset="-120"/>
              </a:rPr>
              <a:t>See MITRE ATT&amp;CK detail inline</a:t>
            </a:r>
            <a:endParaRPr lang="en-US" sz="1250" dirty="0"/>
          </a:p>
          <a:p>
            <a:pPr indent="0" marL="0">
              <a:buNone/>
            </a:pPr>
            <a:r>
              <a:rPr lang="en-US" sz="1250" b="1" dirty="0">
                <a:solidFill>
                  <a:srgbClr val="B58A42"/>
                </a:solidFill>
                <a:latin typeface="Georgia" pitchFamily="34" charset="0"/>
                <a:ea typeface="Georgia" pitchFamily="34" charset="-122"/>
                <a:cs typeface="Georgia" pitchFamily="34" charset="-120"/>
              </a:rPr>
              <a:t>♦   </a:t>
            </a:r>
            <a:pPr indent="0" marL="0">
              <a:spcAft>
                <a:spcPts val="1300"/>
              </a:spcAft>
              <a:buNone/>
            </a:pPr>
            <a:r>
              <a:rPr lang="en-US" sz="1350" dirty="0">
                <a:solidFill>
                  <a:srgbClr val="111E38"/>
                </a:solidFill>
                <a:latin typeface="Arial" pitchFamily="34" charset="0"/>
                <a:ea typeface="Arial" pitchFamily="34" charset="-122"/>
                <a:cs typeface="Arial" pitchFamily="34" charset="-120"/>
              </a:rPr>
              <a:t>See reputation and location context</a:t>
            </a:r>
            <a:endParaRPr lang="en-US" sz="1250" dirty="0"/>
          </a:p>
        </p:txBody>
      </p:sp>
      <p:sp>
        <p:nvSpPr>
          <p:cNvPr id="48" name="Shape 46"/>
          <p:cNvSpPr/>
          <p:nvPr/>
        </p:nvSpPr>
        <p:spPr>
          <a:xfrm>
            <a:off x="7178040" y="4114800"/>
            <a:ext cx="4279392" cy="10973"/>
          </a:xfrm>
          <a:prstGeom prst="rect">
            <a:avLst/>
          </a:prstGeom>
          <a:solidFill>
            <a:srgbClr val="E0D4C0"/>
          </a:solidFill>
          <a:ln w="12700">
            <a:solidFill>
              <a:srgbClr val="E0D4C0"/>
            </a:solidFill>
            <a:prstDash val="solid"/>
          </a:ln>
        </p:spPr>
      </p:sp>
      <p:sp>
        <p:nvSpPr>
          <p:cNvPr id="49" name="Text 47"/>
          <p:cNvSpPr txBox="1"/>
          <p:nvPr/>
        </p:nvSpPr>
        <p:spPr>
          <a:xfrm>
            <a:off x="7178040" y="4224528"/>
            <a:ext cx="2103120" cy="777240"/>
          </a:xfrm>
          <a:prstGeom prst="rect">
            <a:avLst/>
          </a:prstGeom>
          <a:noFill/>
          <a:ln/>
        </p:spPr>
        <p:txBody>
          <a:bodyPr wrap="square" lIns="0" tIns="0" rIns="0" bIns="0" rtlCol="0" anchor="ctr"/>
          <a:lstStyle/>
          <a:p>
            <a:pPr algn="l" indent="0" marL="0">
              <a:buNone/>
            </a:pPr>
            <a:r>
              <a:rPr lang="en-US" sz="2800" b="1" dirty="0">
                <a:solidFill>
                  <a:srgbClr val="111E38"/>
                </a:solidFill>
                <a:latin typeface="Georgia" pitchFamily="34" charset="0"/>
                <a:ea typeface="Georgia" pitchFamily="34" charset="-122"/>
                <a:cs typeface="Georgia" pitchFamily="34" charset="-120"/>
              </a:rPr>
              <a:t>&lt; 3 sec</a:t>
            </a:r>
            <a:endParaRPr lang="en-US" sz="2800" dirty="0"/>
          </a:p>
        </p:txBody>
      </p:sp>
      <p:sp>
        <p:nvSpPr>
          <p:cNvPr id="50" name="Shape 48"/>
          <p:cNvSpPr/>
          <p:nvPr/>
        </p:nvSpPr>
        <p:spPr>
          <a:xfrm>
            <a:off x="7178040" y="5047488"/>
            <a:ext cx="914400" cy="16459"/>
          </a:xfrm>
          <a:prstGeom prst="rect">
            <a:avLst/>
          </a:prstGeom>
          <a:solidFill>
            <a:srgbClr val="B58A42"/>
          </a:solidFill>
          <a:ln w="12700">
            <a:solidFill>
              <a:srgbClr val="B58A42"/>
            </a:solidFill>
            <a:prstDash val="solid"/>
          </a:ln>
        </p:spPr>
      </p:sp>
      <p:sp>
        <p:nvSpPr>
          <p:cNvPr id="51" name="Text 49"/>
          <p:cNvSpPr txBox="1"/>
          <p:nvPr/>
        </p:nvSpPr>
        <p:spPr>
          <a:xfrm>
            <a:off x="7178040" y="5157216"/>
            <a:ext cx="2103120" cy="237744"/>
          </a:xfrm>
          <a:prstGeom prst="rect">
            <a:avLst/>
          </a:prstGeom>
          <a:noFill/>
          <a:ln/>
        </p:spPr>
        <p:txBody>
          <a:bodyPr wrap="square" lIns="0" tIns="0" rIns="0" bIns="0" rtlCol="0" anchor="ctr"/>
          <a:lstStyle/>
          <a:p>
            <a:pPr algn="l" indent="0" marL="0">
              <a:buNone/>
            </a:pPr>
            <a:r>
              <a:rPr lang="en-US" sz="1050" b="1" spc="160" kern="0" dirty="0">
                <a:solidFill>
                  <a:srgbClr val="B58A42"/>
                </a:solidFill>
                <a:latin typeface="Arial" pitchFamily="34" charset="0"/>
                <a:ea typeface="Arial" pitchFamily="34" charset="-122"/>
                <a:cs typeface="Arial" pitchFamily="34" charset="-120"/>
              </a:rPr>
              <a:t>DASHBOARD LOAD TIME</a:t>
            </a:r>
            <a:endParaRPr lang="en-US" sz="1050" dirty="0"/>
          </a:p>
        </p:txBody>
      </p:sp>
      <p:sp>
        <p:nvSpPr>
          <p:cNvPr id="52" name="Text 50"/>
          <p:cNvSpPr txBox="1"/>
          <p:nvPr/>
        </p:nvSpPr>
        <p:spPr>
          <a:xfrm>
            <a:off x="9372600" y="4224528"/>
            <a:ext cx="2084832" cy="777240"/>
          </a:xfrm>
          <a:prstGeom prst="rect">
            <a:avLst/>
          </a:prstGeom>
          <a:noFill/>
          <a:ln/>
        </p:spPr>
        <p:txBody>
          <a:bodyPr wrap="square" lIns="0" tIns="0" rIns="0" bIns="0" rtlCol="0" anchor="ctr"/>
          <a:lstStyle/>
          <a:p>
            <a:pPr algn="l" indent="0" marL="0">
              <a:buNone/>
            </a:pPr>
            <a:r>
              <a:rPr lang="en-US" sz="2800" b="1" dirty="0">
                <a:solidFill>
                  <a:srgbClr val="111E38"/>
                </a:solidFill>
                <a:latin typeface="Georgia" pitchFamily="34" charset="0"/>
                <a:ea typeface="Georgia" pitchFamily="34" charset="-122"/>
                <a:cs typeface="Georgia" pitchFamily="34" charset="-120"/>
              </a:rPr>
              <a:t>100,000+</a:t>
            </a:r>
            <a:endParaRPr lang="en-US" sz="2800" dirty="0"/>
          </a:p>
        </p:txBody>
      </p:sp>
      <p:sp>
        <p:nvSpPr>
          <p:cNvPr id="53" name="Shape 51"/>
          <p:cNvSpPr/>
          <p:nvPr/>
        </p:nvSpPr>
        <p:spPr>
          <a:xfrm>
            <a:off x="9372600" y="5047488"/>
            <a:ext cx="914400" cy="16459"/>
          </a:xfrm>
          <a:prstGeom prst="rect">
            <a:avLst/>
          </a:prstGeom>
          <a:solidFill>
            <a:srgbClr val="B58A42"/>
          </a:solidFill>
          <a:ln w="12700">
            <a:solidFill>
              <a:srgbClr val="B58A42"/>
            </a:solidFill>
            <a:prstDash val="solid"/>
          </a:ln>
        </p:spPr>
      </p:sp>
      <p:sp>
        <p:nvSpPr>
          <p:cNvPr id="54" name="Text 52"/>
          <p:cNvSpPr txBox="1"/>
          <p:nvPr/>
        </p:nvSpPr>
        <p:spPr>
          <a:xfrm>
            <a:off x="9372600" y="5157216"/>
            <a:ext cx="2084832" cy="237744"/>
          </a:xfrm>
          <a:prstGeom prst="rect">
            <a:avLst/>
          </a:prstGeom>
          <a:noFill/>
          <a:ln/>
        </p:spPr>
        <p:txBody>
          <a:bodyPr wrap="square" lIns="0" tIns="0" rIns="0" bIns="0" rtlCol="0" anchor="ctr"/>
          <a:lstStyle/>
          <a:p>
            <a:pPr algn="l" indent="0" marL="0">
              <a:buNone/>
            </a:pPr>
            <a:r>
              <a:rPr lang="en-US" sz="1050" b="1" spc="160" kern="0" dirty="0">
                <a:solidFill>
                  <a:srgbClr val="B58A42"/>
                </a:solidFill>
                <a:latin typeface="Arial" pitchFamily="34" charset="0"/>
                <a:ea typeface="Arial" pitchFamily="34" charset="-122"/>
                <a:cs typeface="Arial" pitchFamily="34" charset="-120"/>
              </a:rPr>
              <a:t>PACKETS TESTED</a:t>
            </a:r>
            <a:endParaRPr lang="en-US" sz="1050" dirty="0"/>
          </a:p>
        </p:txBody>
      </p:sp>
      <p:sp>
        <p:nvSpPr>
          <p:cNvPr id="55" name="Text 53"/>
          <p:cNvSpPr txBox="1"/>
          <p:nvPr/>
        </p:nvSpPr>
        <p:spPr>
          <a:xfrm>
            <a:off x="7178040" y="5440680"/>
            <a:ext cx="4279392" cy="457200"/>
          </a:xfrm>
          <a:prstGeom prst="rect">
            <a:avLst/>
          </a:prstGeom>
          <a:noFill/>
          <a:ln/>
        </p:spPr>
        <p:txBody>
          <a:bodyPr wrap="square" lIns="0" tIns="0" rIns="0" bIns="0" rtlCol="0" anchor="t"/>
          <a:lstStyle/>
          <a:p>
            <a:pPr indent="0" marL="0">
              <a:buNone/>
            </a:pPr>
            <a:r>
              <a:rPr lang="en-US" sz="1150" dirty="0">
                <a:solidFill>
                  <a:srgbClr val="4A586E"/>
                </a:solidFill>
                <a:latin typeface="Arial" pitchFamily="34" charset="0"/>
                <a:ea typeface="Arial" pitchFamily="34" charset="-122"/>
                <a:cs typeface="Arial" pitchFamily="34" charset="-120"/>
              </a:rPr>
              <a:t>The dashboard should load and render a dataset of this size within the target time.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365760" y="365760"/>
            <a:ext cx="11457432" cy="6126480"/>
          </a:xfrm>
          <a:prstGeom prst="rect">
            <a:avLst/>
          </a:prstGeom>
          <a:solidFill>
            <a:srgbClr val="FAF7F2"/>
          </a:solidFill>
          <a:ln w="12700">
            <a:solidFill>
              <a:srgbClr val="E0D4C0"/>
            </a:solidFill>
            <a:prstDash val="solid"/>
          </a:ln>
        </p:spPr>
      </p:sp>
      <p:sp>
        <p:nvSpPr>
          <p:cNvPr id="3" name="Text 1"/>
          <p:cNvSpPr txBox="1"/>
          <p:nvPr/>
        </p:nvSpPr>
        <p:spPr>
          <a:xfrm>
            <a:off x="731520" y="566928"/>
            <a:ext cx="8229600" cy="274320"/>
          </a:xfrm>
          <a:prstGeom prst="rect">
            <a:avLst/>
          </a:prstGeom>
          <a:noFill/>
          <a:ln/>
        </p:spPr>
        <p:txBody>
          <a:bodyPr wrap="square" lIns="0" tIns="0" rIns="0" bIns="0" rtlCol="0" anchor="ctr"/>
          <a:lstStyle/>
          <a:p>
            <a:pPr indent="0" marL="0">
              <a:buNone/>
            </a:pPr>
            <a:r>
              <a:rPr lang="en-US" sz="1200" b="1" spc="240" kern="0" dirty="0">
                <a:solidFill>
                  <a:srgbClr val="B58A42"/>
                </a:solidFill>
                <a:latin typeface="Arial" pitchFamily="34" charset="0"/>
                <a:ea typeface="Arial" pitchFamily="34" charset="-122"/>
                <a:cs typeface="Arial" pitchFamily="34" charset="-120"/>
              </a:rPr>
              <a:t>VI. OBJECTIVES AT A GLANCE</a:t>
            </a:r>
            <a:endParaRPr lang="en-US" sz="1200" dirty="0"/>
          </a:p>
        </p:txBody>
      </p:sp>
      <p:sp>
        <p:nvSpPr>
          <p:cNvPr id="4" name="Text 2"/>
          <p:cNvSpPr txBox="1"/>
          <p:nvPr/>
        </p:nvSpPr>
        <p:spPr>
          <a:xfrm>
            <a:off x="731520" y="877824"/>
            <a:ext cx="10725912" cy="658368"/>
          </a:xfrm>
          <a:prstGeom prst="rect">
            <a:avLst/>
          </a:prstGeom>
          <a:noFill/>
          <a:ln/>
        </p:spPr>
        <p:txBody>
          <a:bodyPr wrap="square" lIns="0" tIns="0" rIns="0" bIns="0" rtlCol="0" anchor="ctr"/>
          <a:lstStyle/>
          <a:p>
            <a:pPr indent="0" marL="0">
              <a:buNone/>
            </a:pPr>
            <a:r>
              <a:rPr lang="en-US" sz="3000" b="1" dirty="0">
                <a:solidFill>
                  <a:srgbClr val="111E38"/>
                </a:solidFill>
                <a:latin typeface="Georgia" pitchFamily="34" charset="0"/>
                <a:ea typeface="Georgia" pitchFamily="34" charset="-122"/>
                <a:cs typeface="Georgia" pitchFamily="34" charset="-120"/>
              </a:rPr>
              <a:t>How Will We Know the Project Works?</a:t>
            </a:r>
            <a:endParaRPr lang="en-US" sz="3000" dirty="0"/>
          </a:p>
        </p:txBody>
      </p:sp>
      <p:sp>
        <p:nvSpPr>
          <p:cNvPr id="5" name="Shape 3"/>
          <p:cNvSpPr/>
          <p:nvPr/>
        </p:nvSpPr>
        <p:spPr>
          <a:xfrm>
            <a:off x="731520" y="1645920"/>
            <a:ext cx="10725912" cy="18288"/>
          </a:xfrm>
          <a:prstGeom prst="rect">
            <a:avLst/>
          </a:prstGeom>
          <a:solidFill>
            <a:srgbClr val="B58A42"/>
          </a:solidFill>
          <a:ln w="12700">
            <a:solidFill>
              <a:srgbClr val="B58A42"/>
            </a:solidFill>
            <a:prstDash val="solid"/>
          </a:ln>
        </p:spPr>
      </p:sp>
      <p:sp>
        <p:nvSpPr>
          <p:cNvPr id="6" name="Text 4"/>
          <p:cNvSpPr txBox="1"/>
          <p:nvPr/>
        </p:nvSpPr>
        <p:spPr>
          <a:xfrm>
            <a:off x="731520" y="2103120"/>
            <a:ext cx="2011680" cy="310896"/>
          </a:xfrm>
          <a:prstGeom prst="rect">
            <a:avLst/>
          </a:prstGeom>
          <a:noFill/>
          <a:ln/>
        </p:spPr>
        <p:txBody>
          <a:bodyPr wrap="square" lIns="0" tIns="0" rIns="0" bIns="0" rtlCol="0" anchor="ctr"/>
          <a:lstStyle/>
          <a:p>
            <a:pPr indent="0" marL="0">
              <a:buNone/>
            </a:pPr>
            <a:r>
              <a:rPr lang="en-US" sz="1050" b="1" spc="180" kern="0" dirty="0">
                <a:solidFill>
                  <a:srgbClr val="B58A42"/>
                </a:solidFill>
                <a:latin typeface="Arial" pitchFamily="34" charset="0"/>
                <a:ea typeface="Arial" pitchFamily="34" charset="-122"/>
                <a:cs typeface="Arial" pitchFamily="34" charset="-120"/>
              </a:rPr>
              <a:t>OBJECTIVE</a:t>
            </a:r>
            <a:endParaRPr lang="en-US" sz="1050" dirty="0"/>
          </a:p>
        </p:txBody>
      </p:sp>
      <p:sp>
        <p:nvSpPr>
          <p:cNvPr id="7" name="Text 5"/>
          <p:cNvSpPr txBox="1"/>
          <p:nvPr/>
        </p:nvSpPr>
        <p:spPr>
          <a:xfrm>
            <a:off x="3017520" y="2103120"/>
            <a:ext cx="3749040" cy="310896"/>
          </a:xfrm>
          <a:prstGeom prst="rect">
            <a:avLst/>
          </a:prstGeom>
          <a:noFill/>
          <a:ln/>
        </p:spPr>
        <p:txBody>
          <a:bodyPr wrap="square" lIns="0" tIns="0" rIns="0" bIns="0" rtlCol="0" anchor="ctr"/>
          <a:lstStyle/>
          <a:p>
            <a:pPr indent="0" marL="0">
              <a:buNone/>
            </a:pPr>
            <a:r>
              <a:rPr lang="en-US" sz="1050" b="1" spc="180" kern="0" dirty="0">
                <a:solidFill>
                  <a:srgbClr val="B58A42"/>
                </a:solidFill>
                <a:latin typeface="Arial" pitchFamily="34" charset="0"/>
                <a:ea typeface="Arial" pitchFamily="34" charset="-122"/>
                <a:cs typeface="Arial" pitchFamily="34" charset="-120"/>
              </a:rPr>
              <a:t>INTENDED OUTCOME</a:t>
            </a:r>
            <a:endParaRPr lang="en-US" sz="1050" dirty="0"/>
          </a:p>
        </p:txBody>
      </p:sp>
      <p:sp>
        <p:nvSpPr>
          <p:cNvPr id="8" name="Text 6"/>
          <p:cNvSpPr txBox="1"/>
          <p:nvPr/>
        </p:nvSpPr>
        <p:spPr>
          <a:xfrm>
            <a:off x="7040880" y="2103120"/>
            <a:ext cx="4142232" cy="310896"/>
          </a:xfrm>
          <a:prstGeom prst="rect">
            <a:avLst/>
          </a:prstGeom>
          <a:noFill/>
          <a:ln/>
        </p:spPr>
        <p:txBody>
          <a:bodyPr wrap="square" lIns="0" tIns="0" rIns="0" bIns="0" rtlCol="0" anchor="ctr"/>
          <a:lstStyle/>
          <a:p>
            <a:pPr indent="0" marL="0">
              <a:buNone/>
            </a:pPr>
            <a:r>
              <a:rPr lang="en-US" sz="1050" b="1" spc="180" kern="0" dirty="0">
                <a:solidFill>
                  <a:srgbClr val="B58A42"/>
                </a:solidFill>
                <a:latin typeface="Arial" pitchFamily="34" charset="0"/>
                <a:ea typeface="Arial" pitchFamily="34" charset="-122"/>
                <a:cs typeface="Arial" pitchFamily="34" charset="-120"/>
              </a:rPr>
              <a:t>SUCCESS METRIC</a:t>
            </a:r>
            <a:endParaRPr lang="en-US" sz="1050" dirty="0"/>
          </a:p>
        </p:txBody>
      </p:sp>
      <p:sp>
        <p:nvSpPr>
          <p:cNvPr id="9" name="Shape 7"/>
          <p:cNvSpPr/>
          <p:nvPr/>
        </p:nvSpPr>
        <p:spPr>
          <a:xfrm>
            <a:off x="731520" y="2468880"/>
            <a:ext cx="10725912" cy="16459"/>
          </a:xfrm>
          <a:prstGeom prst="rect">
            <a:avLst/>
          </a:prstGeom>
          <a:solidFill>
            <a:srgbClr val="B58A42"/>
          </a:solidFill>
          <a:ln w="12700">
            <a:solidFill>
              <a:srgbClr val="B58A42"/>
            </a:solidFill>
            <a:prstDash val="solid"/>
          </a:ln>
        </p:spPr>
      </p:sp>
      <p:sp>
        <p:nvSpPr>
          <p:cNvPr id="10" name="Text 8"/>
          <p:cNvSpPr txBox="1"/>
          <p:nvPr/>
        </p:nvSpPr>
        <p:spPr>
          <a:xfrm>
            <a:off x="731520" y="2560320"/>
            <a:ext cx="2011680" cy="548640"/>
          </a:xfrm>
          <a:prstGeom prst="rect">
            <a:avLst/>
          </a:prstGeom>
          <a:noFill/>
          <a:ln/>
        </p:spPr>
        <p:txBody>
          <a:bodyPr wrap="square" lIns="0" tIns="0" rIns="0" bIns="0" rtlCol="0" anchor="ctr"/>
          <a:lstStyle/>
          <a:p>
            <a:pPr indent="0" marL="0">
              <a:buNone/>
            </a:pPr>
            <a:r>
              <a:rPr lang="en-US" sz="1500" b="1" dirty="0">
                <a:solidFill>
                  <a:srgbClr val="111E38"/>
                </a:solidFill>
                <a:latin typeface="Georgia" pitchFamily="34" charset="0"/>
                <a:ea typeface="Georgia" pitchFamily="34" charset="-122"/>
                <a:cs typeface="Georgia" pitchFamily="34" charset="-120"/>
              </a:rPr>
              <a:t>Detection</a:t>
            </a:r>
            <a:endParaRPr lang="en-US" sz="1500" dirty="0"/>
          </a:p>
        </p:txBody>
      </p:sp>
      <p:sp>
        <p:nvSpPr>
          <p:cNvPr id="11" name="Text 9"/>
          <p:cNvSpPr txBox="1"/>
          <p:nvPr/>
        </p:nvSpPr>
        <p:spPr>
          <a:xfrm>
            <a:off x="3017520" y="2560320"/>
            <a:ext cx="3749040" cy="548640"/>
          </a:xfrm>
          <a:prstGeom prst="rect">
            <a:avLst/>
          </a:prstGeom>
          <a:noFill/>
          <a:ln/>
        </p:spPr>
        <p:txBody>
          <a:bodyPr wrap="square" lIns="0" tIns="0" rIns="0" bIns="0" rtlCol="0" anchor="ctr"/>
          <a:lstStyle/>
          <a:p>
            <a:pPr indent="0" marL="0">
              <a:buNone/>
            </a:pPr>
            <a:r>
              <a:rPr lang="en-US" sz="1350" dirty="0">
                <a:solidFill>
                  <a:srgbClr val="4A586E"/>
                </a:solidFill>
                <a:latin typeface="Arial" pitchFamily="34" charset="0"/>
                <a:ea typeface="Arial" pitchFamily="34" charset="-122"/>
                <a:cs typeface="Arial" pitchFamily="34" charset="-120"/>
              </a:rPr>
              <a:t>Identify common network attacks</a:t>
            </a:r>
            <a:endParaRPr lang="en-US" sz="1350" dirty="0"/>
          </a:p>
        </p:txBody>
      </p:sp>
      <p:sp>
        <p:nvSpPr>
          <p:cNvPr id="12" name="Text 10"/>
          <p:cNvSpPr txBox="1"/>
          <p:nvPr/>
        </p:nvSpPr>
        <p:spPr>
          <a:xfrm>
            <a:off x="7040880" y="2560320"/>
            <a:ext cx="4416552" cy="548640"/>
          </a:xfrm>
          <a:prstGeom prst="rect">
            <a:avLst/>
          </a:prstGeom>
          <a:noFill/>
          <a:ln/>
        </p:spPr>
        <p:txBody>
          <a:bodyPr wrap="square" lIns="0" tIns="0" rIns="0" bIns="0" rtlCol="0" anchor="ctr"/>
          <a:lstStyle/>
          <a:p>
            <a:pPr indent="0" marL="0">
              <a:buNone/>
            </a:pPr>
            <a:r>
              <a:rPr lang="en-US" sz="1400" b="1" dirty="0">
                <a:solidFill>
                  <a:srgbClr val="111E38"/>
                </a:solidFill>
                <a:latin typeface="Georgia" pitchFamily="34" charset="0"/>
                <a:ea typeface="Georgia" pitchFamily="34" charset="-122"/>
                <a:cs typeface="Georgia" pitchFamily="34" charset="-120"/>
              </a:rPr>
              <a:t>≥ 90% simulated attack detection</a:t>
            </a:r>
            <a:endParaRPr lang="en-US" sz="1400" dirty="0"/>
          </a:p>
        </p:txBody>
      </p:sp>
      <p:sp>
        <p:nvSpPr>
          <p:cNvPr id="13" name="Shape 11"/>
          <p:cNvSpPr/>
          <p:nvPr/>
        </p:nvSpPr>
        <p:spPr>
          <a:xfrm>
            <a:off x="731520" y="3127248"/>
            <a:ext cx="10725912" cy="9144"/>
          </a:xfrm>
          <a:prstGeom prst="rect">
            <a:avLst/>
          </a:prstGeom>
          <a:solidFill>
            <a:srgbClr val="E0D4C0"/>
          </a:solidFill>
          <a:ln w="12700">
            <a:solidFill>
              <a:srgbClr val="E0D4C0"/>
            </a:solidFill>
            <a:prstDash val="solid"/>
          </a:ln>
        </p:spPr>
      </p:sp>
      <p:sp>
        <p:nvSpPr>
          <p:cNvPr id="14" name="Text 12"/>
          <p:cNvSpPr txBox="1"/>
          <p:nvPr/>
        </p:nvSpPr>
        <p:spPr>
          <a:xfrm>
            <a:off x="731520" y="3273552"/>
            <a:ext cx="2011680" cy="548640"/>
          </a:xfrm>
          <a:prstGeom prst="rect">
            <a:avLst/>
          </a:prstGeom>
          <a:noFill/>
          <a:ln/>
        </p:spPr>
        <p:txBody>
          <a:bodyPr wrap="square" lIns="0" tIns="0" rIns="0" bIns="0" rtlCol="0" anchor="ctr"/>
          <a:lstStyle/>
          <a:p>
            <a:pPr indent="0" marL="0">
              <a:buNone/>
            </a:pPr>
            <a:r>
              <a:rPr lang="en-US" sz="1500" b="1" dirty="0">
                <a:solidFill>
                  <a:srgbClr val="111E38"/>
                </a:solidFill>
                <a:latin typeface="Georgia" pitchFamily="34" charset="0"/>
                <a:ea typeface="Georgia" pitchFamily="34" charset="-122"/>
                <a:cs typeface="Georgia" pitchFamily="34" charset="-120"/>
              </a:rPr>
              <a:t>Context</a:t>
            </a:r>
            <a:endParaRPr lang="en-US" sz="1500" dirty="0"/>
          </a:p>
        </p:txBody>
      </p:sp>
      <p:sp>
        <p:nvSpPr>
          <p:cNvPr id="15" name="Text 13"/>
          <p:cNvSpPr txBox="1"/>
          <p:nvPr/>
        </p:nvSpPr>
        <p:spPr>
          <a:xfrm>
            <a:off x="3017520" y="3273552"/>
            <a:ext cx="3749040" cy="548640"/>
          </a:xfrm>
          <a:prstGeom prst="rect">
            <a:avLst/>
          </a:prstGeom>
          <a:noFill/>
          <a:ln/>
        </p:spPr>
        <p:txBody>
          <a:bodyPr wrap="square" lIns="0" tIns="0" rIns="0" bIns="0" rtlCol="0" anchor="ctr"/>
          <a:lstStyle/>
          <a:p>
            <a:pPr indent="0" marL="0">
              <a:buNone/>
            </a:pPr>
            <a:r>
              <a:rPr lang="en-US" sz="1350" dirty="0">
                <a:solidFill>
                  <a:srgbClr val="4A586E"/>
                </a:solidFill>
                <a:latin typeface="Arial" pitchFamily="34" charset="0"/>
                <a:ea typeface="Arial" pitchFamily="34" charset="-122"/>
                <a:cs typeface="Arial" pitchFamily="34" charset="-120"/>
              </a:rPr>
              <a:t>Explain and enrich every alert</a:t>
            </a:r>
            <a:endParaRPr lang="en-US" sz="1350" dirty="0"/>
          </a:p>
        </p:txBody>
      </p:sp>
      <p:sp>
        <p:nvSpPr>
          <p:cNvPr id="16" name="Text 14"/>
          <p:cNvSpPr txBox="1"/>
          <p:nvPr/>
        </p:nvSpPr>
        <p:spPr>
          <a:xfrm>
            <a:off x="7040880" y="3273552"/>
            <a:ext cx="4416552" cy="548640"/>
          </a:xfrm>
          <a:prstGeom prst="rect">
            <a:avLst/>
          </a:prstGeom>
          <a:noFill/>
          <a:ln/>
        </p:spPr>
        <p:txBody>
          <a:bodyPr wrap="square" lIns="0" tIns="0" rIns="0" bIns="0" rtlCol="0" anchor="ctr"/>
          <a:lstStyle/>
          <a:p>
            <a:pPr indent="0" marL="0">
              <a:buNone/>
            </a:pPr>
            <a:r>
              <a:rPr lang="en-US" sz="1400" b="1" dirty="0">
                <a:solidFill>
                  <a:srgbClr val="111E38"/>
                </a:solidFill>
                <a:latin typeface="Georgia" pitchFamily="34" charset="0"/>
                <a:ea typeface="Georgia" pitchFamily="34" charset="-122"/>
                <a:cs typeface="Georgia" pitchFamily="34" charset="-120"/>
              </a:rPr>
              <a:t>100% mapping  ·  ≥ 95% enrichment</a:t>
            </a:r>
            <a:endParaRPr lang="en-US" sz="1400" dirty="0"/>
          </a:p>
        </p:txBody>
      </p:sp>
      <p:sp>
        <p:nvSpPr>
          <p:cNvPr id="17" name="Shape 15"/>
          <p:cNvSpPr/>
          <p:nvPr/>
        </p:nvSpPr>
        <p:spPr>
          <a:xfrm>
            <a:off x="731520" y="3840480"/>
            <a:ext cx="10725912" cy="9144"/>
          </a:xfrm>
          <a:prstGeom prst="rect">
            <a:avLst/>
          </a:prstGeom>
          <a:solidFill>
            <a:srgbClr val="E0D4C0"/>
          </a:solidFill>
          <a:ln w="12700">
            <a:solidFill>
              <a:srgbClr val="E0D4C0"/>
            </a:solidFill>
            <a:prstDash val="solid"/>
          </a:ln>
        </p:spPr>
      </p:sp>
      <p:sp>
        <p:nvSpPr>
          <p:cNvPr id="18" name="Text 16"/>
          <p:cNvSpPr txBox="1"/>
          <p:nvPr/>
        </p:nvSpPr>
        <p:spPr>
          <a:xfrm>
            <a:off x="731520" y="3986784"/>
            <a:ext cx="2011680" cy="548640"/>
          </a:xfrm>
          <a:prstGeom prst="rect">
            <a:avLst/>
          </a:prstGeom>
          <a:noFill/>
          <a:ln/>
        </p:spPr>
        <p:txBody>
          <a:bodyPr wrap="square" lIns="0" tIns="0" rIns="0" bIns="0" rtlCol="0" anchor="ctr"/>
          <a:lstStyle/>
          <a:p>
            <a:pPr indent="0" marL="0">
              <a:buNone/>
            </a:pPr>
            <a:r>
              <a:rPr lang="en-US" sz="1500" b="1" dirty="0">
                <a:solidFill>
                  <a:srgbClr val="111E38"/>
                </a:solidFill>
                <a:latin typeface="Georgia" pitchFamily="34" charset="0"/>
                <a:ea typeface="Georgia" pitchFamily="34" charset="-122"/>
                <a:cs typeface="Georgia" pitchFamily="34" charset="-120"/>
              </a:rPr>
              <a:t>Investigation</a:t>
            </a:r>
            <a:endParaRPr lang="en-US" sz="1500" dirty="0"/>
          </a:p>
        </p:txBody>
      </p:sp>
      <p:sp>
        <p:nvSpPr>
          <p:cNvPr id="19" name="Text 17"/>
          <p:cNvSpPr txBox="1"/>
          <p:nvPr/>
        </p:nvSpPr>
        <p:spPr>
          <a:xfrm>
            <a:off x="3017520" y="3986784"/>
            <a:ext cx="3749040" cy="548640"/>
          </a:xfrm>
          <a:prstGeom prst="rect">
            <a:avLst/>
          </a:prstGeom>
          <a:noFill/>
          <a:ln/>
        </p:spPr>
        <p:txBody>
          <a:bodyPr wrap="square" lIns="0" tIns="0" rIns="0" bIns="0" rtlCol="0" anchor="ctr"/>
          <a:lstStyle/>
          <a:p>
            <a:pPr indent="0" marL="0">
              <a:buNone/>
            </a:pPr>
            <a:r>
              <a:rPr lang="en-US" sz="1350" dirty="0">
                <a:solidFill>
                  <a:srgbClr val="4A586E"/>
                </a:solidFill>
                <a:latin typeface="Arial" pitchFamily="34" charset="0"/>
                <a:ea typeface="Arial" pitchFamily="34" charset="-122"/>
                <a:cs typeface="Arial" pitchFamily="34" charset="-120"/>
              </a:rPr>
              <a:t>Make results easy to analyse</a:t>
            </a:r>
            <a:endParaRPr lang="en-US" sz="1350" dirty="0"/>
          </a:p>
        </p:txBody>
      </p:sp>
      <p:sp>
        <p:nvSpPr>
          <p:cNvPr id="20" name="Text 18"/>
          <p:cNvSpPr txBox="1"/>
          <p:nvPr/>
        </p:nvSpPr>
        <p:spPr>
          <a:xfrm>
            <a:off x="7040880" y="3986784"/>
            <a:ext cx="4416552" cy="548640"/>
          </a:xfrm>
          <a:prstGeom prst="rect">
            <a:avLst/>
          </a:prstGeom>
          <a:noFill/>
          <a:ln/>
        </p:spPr>
        <p:txBody>
          <a:bodyPr wrap="square" lIns="0" tIns="0" rIns="0" bIns="0" rtlCol="0" anchor="ctr"/>
          <a:lstStyle/>
          <a:p>
            <a:pPr indent="0" marL="0">
              <a:buNone/>
            </a:pPr>
            <a:r>
              <a:rPr lang="en-US" sz="1400" b="1" dirty="0">
                <a:solidFill>
                  <a:srgbClr val="111E38"/>
                </a:solidFill>
                <a:latin typeface="Georgia" pitchFamily="34" charset="0"/>
                <a:ea typeface="Georgia" pitchFamily="34" charset="-122"/>
                <a:cs typeface="Georgia" pitchFamily="34" charset="-120"/>
              </a:rPr>
              <a:t>100,000+ packets shown in &lt; 3 sec</a:t>
            </a:r>
            <a:endParaRPr lang="en-US" sz="1400" dirty="0"/>
          </a:p>
        </p:txBody>
      </p:sp>
      <p:sp>
        <p:nvSpPr>
          <p:cNvPr id="21" name="Shape 19"/>
          <p:cNvSpPr/>
          <p:nvPr/>
        </p:nvSpPr>
        <p:spPr>
          <a:xfrm>
            <a:off x="731520" y="4553712"/>
            <a:ext cx="10725912" cy="9144"/>
          </a:xfrm>
          <a:prstGeom prst="rect">
            <a:avLst/>
          </a:prstGeom>
          <a:solidFill>
            <a:srgbClr val="E0D4C0"/>
          </a:solidFill>
          <a:ln w="12700">
            <a:solidFill>
              <a:srgbClr val="E0D4C0"/>
            </a:solidFill>
            <a:prstDash val="solid"/>
          </a:ln>
        </p:spPr>
      </p:sp>
      <p:sp>
        <p:nvSpPr>
          <p:cNvPr id="22" name="Text 20"/>
          <p:cNvSpPr txBox="1"/>
          <p:nvPr/>
        </p:nvSpPr>
        <p:spPr>
          <a:xfrm>
            <a:off x="731520" y="4617720"/>
            <a:ext cx="10725912" cy="365760"/>
          </a:xfrm>
          <a:prstGeom prst="rect">
            <a:avLst/>
          </a:prstGeom>
          <a:noFill/>
          <a:ln/>
        </p:spPr>
        <p:txBody>
          <a:bodyPr wrap="square" lIns="0" tIns="0" rIns="0" bIns="0" rtlCol="0" anchor="ctr"/>
          <a:lstStyle/>
          <a:p>
            <a:pPr algn="ctr" indent="0" marL="0">
              <a:buNone/>
            </a:pPr>
            <a:r>
              <a:rPr lang="en-US" sz="1600" i="1" dirty="0">
                <a:solidFill>
                  <a:srgbClr val="1E3A27"/>
                </a:solidFill>
                <a:latin typeface="Georgia" pitchFamily="34" charset="0"/>
                <a:ea typeface="Georgia" pitchFamily="34" charset="-122"/>
                <a:cs typeface="Georgia" pitchFamily="34" charset="-120"/>
              </a:rPr>
              <a:t>Each objective is independently testable and measurable.</a:t>
            </a:r>
            <a:endParaRPr lang="en-US" sz="1600" dirty="0"/>
          </a:p>
        </p:txBody>
      </p:sp>
      <p:sp>
        <p:nvSpPr>
          <p:cNvPr id="23" name="Shape 21"/>
          <p:cNvSpPr/>
          <p:nvPr/>
        </p:nvSpPr>
        <p:spPr>
          <a:xfrm>
            <a:off x="2025396" y="5138928"/>
            <a:ext cx="2377440" cy="566928"/>
          </a:xfrm>
          <a:prstGeom prst="rect">
            <a:avLst/>
          </a:prstGeom>
          <a:solidFill>
            <a:srgbClr val="FFFCF9"/>
          </a:solidFill>
          <a:ln w="12700">
            <a:solidFill>
              <a:srgbClr val="B58A42"/>
            </a:solidFill>
            <a:prstDash val="solid"/>
          </a:ln>
        </p:spPr>
      </p:sp>
      <p:sp>
        <p:nvSpPr>
          <p:cNvPr id="24" name="Text 22"/>
          <p:cNvSpPr txBox="1"/>
          <p:nvPr/>
        </p:nvSpPr>
        <p:spPr>
          <a:xfrm>
            <a:off x="2025396" y="5138928"/>
            <a:ext cx="2377440" cy="566928"/>
          </a:xfrm>
          <a:prstGeom prst="rect">
            <a:avLst/>
          </a:prstGeom>
          <a:noFill/>
          <a:ln/>
        </p:spPr>
        <p:txBody>
          <a:bodyPr wrap="square" lIns="0" tIns="0" rIns="0" bIns="0" rtlCol="0" anchor="ctr"/>
          <a:lstStyle/>
          <a:p>
            <a:pPr algn="ctr" indent="0" marL="0">
              <a:buNone/>
            </a:pPr>
            <a:r>
              <a:rPr lang="en-US" sz="1250" b="1" spc="200" kern="0" dirty="0">
                <a:solidFill>
                  <a:srgbClr val="111E38"/>
                </a:solidFill>
                <a:latin typeface="Arial" pitchFamily="34" charset="0"/>
                <a:ea typeface="Arial" pitchFamily="34" charset="-122"/>
                <a:cs typeface="Arial" pitchFamily="34" charset="-120"/>
              </a:rPr>
              <a:t>DETECT</a:t>
            </a:r>
            <a:endParaRPr lang="en-US" sz="1250" dirty="0"/>
          </a:p>
        </p:txBody>
      </p:sp>
      <p:sp>
        <p:nvSpPr>
          <p:cNvPr id="25" name="Shape 23"/>
          <p:cNvSpPr/>
          <p:nvPr/>
        </p:nvSpPr>
        <p:spPr>
          <a:xfrm>
            <a:off x="4576572" y="5340096"/>
            <a:ext cx="155448" cy="164592"/>
          </a:xfrm>
          <a:prstGeom prst="chevron">
            <a:avLst/>
          </a:prstGeom>
          <a:solidFill>
            <a:srgbClr val="B58A42"/>
          </a:solidFill>
          <a:ln w="12700">
            <a:solidFill>
              <a:srgbClr val="B58A42"/>
            </a:solidFill>
            <a:prstDash val="solid"/>
          </a:ln>
        </p:spPr>
      </p:sp>
      <p:sp>
        <p:nvSpPr>
          <p:cNvPr id="26" name="Shape 24"/>
          <p:cNvSpPr/>
          <p:nvPr/>
        </p:nvSpPr>
        <p:spPr>
          <a:xfrm>
            <a:off x="4905756" y="5138928"/>
            <a:ext cx="2377440" cy="566928"/>
          </a:xfrm>
          <a:prstGeom prst="rect">
            <a:avLst/>
          </a:prstGeom>
          <a:solidFill>
            <a:srgbClr val="FFFCF9"/>
          </a:solidFill>
          <a:ln w="12700">
            <a:solidFill>
              <a:srgbClr val="B58A42"/>
            </a:solidFill>
            <a:prstDash val="solid"/>
          </a:ln>
        </p:spPr>
      </p:sp>
      <p:sp>
        <p:nvSpPr>
          <p:cNvPr id="27" name="Text 25"/>
          <p:cNvSpPr txBox="1"/>
          <p:nvPr/>
        </p:nvSpPr>
        <p:spPr>
          <a:xfrm>
            <a:off x="4905756" y="5138928"/>
            <a:ext cx="2377440" cy="566928"/>
          </a:xfrm>
          <a:prstGeom prst="rect">
            <a:avLst/>
          </a:prstGeom>
          <a:noFill/>
          <a:ln/>
        </p:spPr>
        <p:txBody>
          <a:bodyPr wrap="square" lIns="0" tIns="0" rIns="0" bIns="0" rtlCol="0" anchor="ctr"/>
          <a:lstStyle/>
          <a:p>
            <a:pPr algn="ctr" indent="0" marL="0">
              <a:buNone/>
            </a:pPr>
            <a:r>
              <a:rPr lang="en-US" sz="1250" b="1" spc="200" kern="0" dirty="0">
                <a:solidFill>
                  <a:srgbClr val="111E38"/>
                </a:solidFill>
                <a:latin typeface="Arial" pitchFamily="34" charset="0"/>
                <a:ea typeface="Arial" pitchFamily="34" charset="-122"/>
                <a:cs typeface="Arial" pitchFamily="34" charset="-120"/>
              </a:rPr>
              <a:t>UNDERSTAND</a:t>
            </a:r>
            <a:endParaRPr lang="en-US" sz="1250" dirty="0"/>
          </a:p>
        </p:txBody>
      </p:sp>
      <p:sp>
        <p:nvSpPr>
          <p:cNvPr id="28" name="Shape 26"/>
          <p:cNvSpPr/>
          <p:nvPr/>
        </p:nvSpPr>
        <p:spPr>
          <a:xfrm>
            <a:off x="7456932" y="5340096"/>
            <a:ext cx="155448" cy="164592"/>
          </a:xfrm>
          <a:prstGeom prst="chevron">
            <a:avLst/>
          </a:prstGeom>
          <a:solidFill>
            <a:srgbClr val="B58A42"/>
          </a:solidFill>
          <a:ln w="12700">
            <a:solidFill>
              <a:srgbClr val="B58A42"/>
            </a:solidFill>
            <a:prstDash val="solid"/>
          </a:ln>
        </p:spPr>
      </p:sp>
      <p:sp>
        <p:nvSpPr>
          <p:cNvPr id="29" name="Shape 27"/>
          <p:cNvSpPr/>
          <p:nvPr/>
        </p:nvSpPr>
        <p:spPr>
          <a:xfrm>
            <a:off x="7786116" y="5138928"/>
            <a:ext cx="2377440" cy="566928"/>
          </a:xfrm>
          <a:prstGeom prst="rect">
            <a:avLst/>
          </a:prstGeom>
          <a:solidFill>
            <a:srgbClr val="FFFCF9"/>
          </a:solidFill>
          <a:ln w="12700">
            <a:solidFill>
              <a:srgbClr val="B58A42"/>
            </a:solidFill>
            <a:prstDash val="solid"/>
          </a:ln>
        </p:spPr>
      </p:sp>
      <p:sp>
        <p:nvSpPr>
          <p:cNvPr id="30" name="Text 28"/>
          <p:cNvSpPr txBox="1"/>
          <p:nvPr/>
        </p:nvSpPr>
        <p:spPr>
          <a:xfrm>
            <a:off x="7786116" y="5138928"/>
            <a:ext cx="2377440" cy="566928"/>
          </a:xfrm>
          <a:prstGeom prst="rect">
            <a:avLst/>
          </a:prstGeom>
          <a:noFill/>
          <a:ln/>
        </p:spPr>
        <p:txBody>
          <a:bodyPr wrap="square" lIns="0" tIns="0" rIns="0" bIns="0" rtlCol="0" anchor="ctr"/>
          <a:lstStyle/>
          <a:p>
            <a:pPr algn="ctr" indent="0" marL="0">
              <a:buNone/>
            </a:pPr>
            <a:r>
              <a:rPr lang="en-US" sz="1250" b="1" spc="200" kern="0" dirty="0">
                <a:solidFill>
                  <a:srgbClr val="111E38"/>
                </a:solidFill>
                <a:latin typeface="Arial" pitchFamily="34" charset="0"/>
                <a:ea typeface="Arial" pitchFamily="34" charset="-122"/>
                <a:cs typeface="Arial" pitchFamily="34" charset="-120"/>
              </a:rPr>
              <a:t>INVESTIGATE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365760" y="365760"/>
            <a:ext cx="11457432" cy="6126480"/>
          </a:xfrm>
          <a:prstGeom prst="rect">
            <a:avLst/>
          </a:prstGeom>
          <a:solidFill>
            <a:srgbClr val="FAF7F2"/>
          </a:solidFill>
          <a:ln w="12700">
            <a:solidFill>
              <a:srgbClr val="E0D4C0"/>
            </a:solidFill>
            <a:prstDash val="solid"/>
          </a:ln>
        </p:spPr>
      </p:sp>
      <p:sp>
        <p:nvSpPr>
          <p:cNvPr id="3" name="Text 1"/>
          <p:cNvSpPr txBox="1"/>
          <p:nvPr/>
        </p:nvSpPr>
        <p:spPr>
          <a:xfrm>
            <a:off x="731520" y="566928"/>
            <a:ext cx="8229600" cy="274320"/>
          </a:xfrm>
          <a:prstGeom prst="rect">
            <a:avLst/>
          </a:prstGeom>
          <a:noFill/>
          <a:ln/>
        </p:spPr>
        <p:txBody>
          <a:bodyPr wrap="square" lIns="0" tIns="0" rIns="0" bIns="0" rtlCol="0" anchor="ctr"/>
          <a:lstStyle/>
          <a:p>
            <a:pPr indent="0" marL="0">
              <a:buNone/>
            </a:pPr>
            <a:r>
              <a:rPr lang="en-US" sz="1200" b="1" spc="240" kern="0" dirty="0">
                <a:solidFill>
                  <a:srgbClr val="B58A42"/>
                </a:solidFill>
                <a:latin typeface="Arial" pitchFamily="34" charset="0"/>
                <a:ea typeface="Arial" pitchFamily="34" charset="-122"/>
                <a:cs typeface="Arial" pitchFamily="34" charset="-120"/>
              </a:rPr>
              <a:t>VII. PROJECT DIRECTION</a:t>
            </a:r>
            <a:endParaRPr lang="en-US" sz="1200" dirty="0"/>
          </a:p>
        </p:txBody>
      </p:sp>
      <p:sp>
        <p:nvSpPr>
          <p:cNvPr id="4" name="Text 2"/>
          <p:cNvSpPr txBox="1"/>
          <p:nvPr/>
        </p:nvSpPr>
        <p:spPr>
          <a:xfrm>
            <a:off x="731520" y="877824"/>
            <a:ext cx="10725912" cy="658368"/>
          </a:xfrm>
          <a:prstGeom prst="rect">
            <a:avLst/>
          </a:prstGeom>
          <a:noFill/>
          <a:ln/>
        </p:spPr>
        <p:txBody>
          <a:bodyPr wrap="square" lIns="0" tIns="0" rIns="0" bIns="0" rtlCol="0" anchor="ctr"/>
          <a:lstStyle/>
          <a:p>
            <a:pPr indent="0" marL="0">
              <a:buNone/>
            </a:pPr>
            <a:r>
              <a:rPr lang="en-US" sz="3000" b="1" dirty="0">
                <a:solidFill>
                  <a:srgbClr val="111E38"/>
                </a:solidFill>
                <a:latin typeface="Georgia" pitchFamily="34" charset="0"/>
                <a:ea typeface="Georgia" pitchFamily="34" charset="-122"/>
                <a:cs typeface="Georgia" pitchFamily="34" charset="-120"/>
              </a:rPr>
              <a:t>What These Objectives Lead To</a:t>
            </a:r>
            <a:endParaRPr lang="en-US" sz="3000" dirty="0"/>
          </a:p>
        </p:txBody>
      </p:sp>
      <p:sp>
        <p:nvSpPr>
          <p:cNvPr id="5" name="Shape 3"/>
          <p:cNvSpPr/>
          <p:nvPr/>
        </p:nvSpPr>
        <p:spPr>
          <a:xfrm>
            <a:off x="731520" y="1645920"/>
            <a:ext cx="10725912" cy="18288"/>
          </a:xfrm>
          <a:prstGeom prst="rect">
            <a:avLst/>
          </a:prstGeom>
          <a:solidFill>
            <a:srgbClr val="B58A42"/>
          </a:solidFill>
          <a:ln w="12700">
            <a:solidFill>
              <a:srgbClr val="B58A42"/>
            </a:solidFill>
            <a:prstDash val="solid"/>
          </a:ln>
        </p:spPr>
      </p:sp>
      <p:sp>
        <p:nvSpPr>
          <p:cNvPr id="6" name="Text 4"/>
          <p:cNvSpPr txBox="1"/>
          <p:nvPr/>
        </p:nvSpPr>
        <p:spPr>
          <a:xfrm>
            <a:off x="731520" y="2057400"/>
            <a:ext cx="10058400" cy="548640"/>
          </a:xfrm>
          <a:prstGeom prst="rect">
            <a:avLst/>
          </a:prstGeom>
          <a:noFill/>
          <a:ln/>
        </p:spPr>
        <p:txBody>
          <a:bodyPr wrap="square" lIns="0" tIns="0" rIns="0" bIns="0" rtlCol="0" anchor="ctr"/>
          <a:lstStyle/>
          <a:p>
            <a:pPr indent="0" marL="0">
              <a:lnSpc>
                <a:spcPct val="112000"/>
              </a:lnSpc>
              <a:buNone/>
            </a:pPr>
            <a:r>
              <a:rPr lang="en-US" sz="1350" dirty="0">
                <a:solidFill>
                  <a:srgbClr val="4A586E"/>
                </a:solidFill>
                <a:latin typeface="Arial" pitchFamily="34" charset="0"/>
                <a:ea typeface="Arial" pitchFamily="34" charset="-122"/>
                <a:cs typeface="Arial" pitchFamily="34" charset="-120"/>
              </a:rPr>
              <a:t>Achieving these three objectives gives us the foundation of a lightweight network intrusion detection and analysis system — suited to cybersecurity learning, small lab networks and proof-of-concept security monitoring.</a:t>
            </a:r>
            <a:endParaRPr lang="en-US" sz="1350" dirty="0"/>
          </a:p>
        </p:txBody>
      </p:sp>
      <p:sp>
        <p:nvSpPr>
          <p:cNvPr id="7" name="Shape 5"/>
          <p:cNvSpPr/>
          <p:nvPr/>
        </p:nvSpPr>
        <p:spPr>
          <a:xfrm>
            <a:off x="731520" y="2788920"/>
            <a:ext cx="2496312" cy="1051560"/>
          </a:xfrm>
          <a:prstGeom prst="rect">
            <a:avLst/>
          </a:prstGeom>
          <a:solidFill>
            <a:srgbClr val="FFFCF9"/>
          </a:solidFill>
          <a:ln w="9525">
            <a:solidFill>
              <a:srgbClr val="E0D4C0"/>
            </a:solidFill>
            <a:prstDash val="solid"/>
          </a:ln>
        </p:spPr>
      </p:sp>
      <p:sp>
        <p:nvSpPr>
          <p:cNvPr id="8" name="Text 6"/>
          <p:cNvSpPr txBox="1"/>
          <p:nvPr/>
        </p:nvSpPr>
        <p:spPr>
          <a:xfrm>
            <a:off x="841248" y="2971800"/>
            <a:ext cx="2276856" cy="310896"/>
          </a:xfrm>
          <a:prstGeom prst="rect">
            <a:avLst/>
          </a:prstGeom>
          <a:noFill/>
          <a:ln/>
        </p:spPr>
        <p:txBody>
          <a:bodyPr wrap="square" lIns="0" tIns="0" rIns="0" bIns="0" rtlCol="0" anchor="ctr"/>
          <a:lstStyle/>
          <a:p>
            <a:pPr algn="ctr" indent="0" marL="0">
              <a:buNone/>
            </a:pPr>
            <a:r>
              <a:rPr lang="en-US" sz="1350" b="1" dirty="0">
                <a:solidFill>
                  <a:srgbClr val="111E38"/>
                </a:solidFill>
                <a:latin typeface="Georgia" pitchFamily="34" charset="0"/>
                <a:ea typeface="Georgia" pitchFamily="34" charset="-122"/>
                <a:cs typeface="Georgia" pitchFamily="34" charset="-120"/>
              </a:rPr>
              <a:t>RAW TRAFFIC</a:t>
            </a:r>
            <a:endParaRPr lang="en-US" sz="1350" dirty="0"/>
          </a:p>
        </p:txBody>
      </p:sp>
      <p:sp>
        <p:nvSpPr>
          <p:cNvPr id="9" name="Text 7"/>
          <p:cNvSpPr txBox="1"/>
          <p:nvPr/>
        </p:nvSpPr>
        <p:spPr>
          <a:xfrm>
            <a:off x="877824" y="3300984"/>
            <a:ext cx="2203704" cy="457200"/>
          </a:xfrm>
          <a:prstGeom prst="rect">
            <a:avLst/>
          </a:prstGeom>
          <a:noFill/>
          <a:ln/>
        </p:spPr>
        <p:txBody>
          <a:bodyPr wrap="square" lIns="0" tIns="0" rIns="0" bIns="0" rtlCol="0" anchor="t"/>
          <a:lstStyle/>
          <a:p>
            <a:pPr algn="ctr" indent="0" marL="0">
              <a:lnSpc>
                <a:spcPct val="110000"/>
              </a:lnSpc>
              <a:buNone/>
            </a:pPr>
            <a:r>
              <a:rPr lang="en-US" sz="1100" dirty="0">
                <a:solidFill>
                  <a:srgbClr val="4A586E"/>
                </a:solidFill>
                <a:latin typeface="Arial" pitchFamily="34" charset="0"/>
                <a:ea typeface="Arial" pitchFamily="34" charset="-122"/>
                <a:cs typeface="Arial" pitchFamily="34" charset="-120"/>
              </a:rPr>
              <a:t>Packets captured or imported</a:t>
            </a:r>
            <a:endParaRPr lang="en-US" sz="1100" dirty="0"/>
          </a:p>
        </p:txBody>
      </p:sp>
      <p:sp>
        <p:nvSpPr>
          <p:cNvPr id="10" name="Shape 8"/>
          <p:cNvSpPr/>
          <p:nvPr/>
        </p:nvSpPr>
        <p:spPr>
          <a:xfrm>
            <a:off x="3300984" y="3232404"/>
            <a:ext cx="155448" cy="164592"/>
          </a:xfrm>
          <a:prstGeom prst="chevron">
            <a:avLst/>
          </a:prstGeom>
          <a:solidFill>
            <a:srgbClr val="B58A42"/>
          </a:solidFill>
          <a:ln w="12700">
            <a:solidFill>
              <a:srgbClr val="B58A42"/>
            </a:solidFill>
            <a:prstDash val="solid"/>
          </a:ln>
        </p:spPr>
      </p:sp>
      <p:sp>
        <p:nvSpPr>
          <p:cNvPr id="11" name="Shape 9"/>
          <p:cNvSpPr/>
          <p:nvPr/>
        </p:nvSpPr>
        <p:spPr>
          <a:xfrm>
            <a:off x="3529584" y="2788920"/>
            <a:ext cx="2496312" cy="1051560"/>
          </a:xfrm>
          <a:prstGeom prst="rect">
            <a:avLst/>
          </a:prstGeom>
          <a:solidFill>
            <a:srgbClr val="FFFCF9"/>
          </a:solidFill>
          <a:ln w="9525">
            <a:solidFill>
              <a:srgbClr val="E0D4C0"/>
            </a:solidFill>
            <a:prstDash val="solid"/>
          </a:ln>
        </p:spPr>
      </p:sp>
      <p:sp>
        <p:nvSpPr>
          <p:cNvPr id="12" name="Text 10"/>
          <p:cNvSpPr txBox="1"/>
          <p:nvPr/>
        </p:nvSpPr>
        <p:spPr>
          <a:xfrm>
            <a:off x="3639312" y="2971800"/>
            <a:ext cx="2276856" cy="310896"/>
          </a:xfrm>
          <a:prstGeom prst="rect">
            <a:avLst/>
          </a:prstGeom>
          <a:noFill/>
          <a:ln/>
        </p:spPr>
        <p:txBody>
          <a:bodyPr wrap="square" lIns="0" tIns="0" rIns="0" bIns="0" rtlCol="0" anchor="ctr"/>
          <a:lstStyle/>
          <a:p>
            <a:pPr algn="ctr" indent="0" marL="0">
              <a:buNone/>
            </a:pPr>
            <a:r>
              <a:rPr lang="en-US" sz="1350" b="1" dirty="0">
                <a:solidFill>
                  <a:srgbClr val="111E38"/>
                </a:solidFill>
                <a:latin typeface="Georgia" pitchFamily="34" charset="0"/>
                <a:ea typeface="Georgia" pitchFamily="34" charset="-122"/>
                <a:cs typeface="Georgia" pitchFamily="34" charset="-120"/>
              </a:rPr>
              <a:t>DETECT</a:t>
            </a:r>
            <a:endParaRPr lang="en-US" sz="1350" dirty="0"/>
          </a:p>
        </p:txBody>
      </p:sp>
      <p:sp>
        <p:nvSpPr>
          <p:cNvPr id="13" name="Text 11"/>
          <p:cNvSpPr txBox="1"/>
          <p:nvPr/>
        </p:nvSpPr>
        <p:spPr>
          <a:xfrm>
            <a:off x="3675888" y="3300984"/>
            <a:ext cx="2203704" cy="457200"/>
          </a:xfrm>
          <a:prstGeom prst="rect">
            <a:avLst/>
          </a:prstGeom>
          <a:noFill/>
          <a:ln/>
        </p:spPr>
        <p:txBody>
          <a:bodyPr wrap="square" lIns="0" tIns="0" rIns="0" bIns="0" rtlCol="0" anchor="t"/>
          <a:lstStyle/>
          <a:p>
            <a:pPr algn="ctr" indent="0" marL="0">
              <a:lnSpc>
                <a:spcPct val="110000"/>
              </a:lnSpc>
              <a:buNone/>
            </a:pPr>
            <a:r>
              <a:rPr lang="en-US" sz="1100" dirty="0">
                <a:solidFill>
                  <a:srgbClr val="4A586E"/>
                </a:solidFill>
                <a:latin typeface="Arial" pitchFamily="34" charset="0"/>
                <a:ea typeface="Arial" pitchFamily="34" charset="-122"/>
                <a:cs typeface="Arial" pitchFamily="34" charset="-120"/>
              </a:rPr>
              <a:t>Six rule-based signatures</a:t>
            </a:r>
            <a:endParaRPr lang="en-US" sz="1100" dirty="0"/>
          </a:p>
        </p:txBody>
      </p:sp>
      <p:sp>
        <p:nvSpPr>
          <p:cNvPr id="14" name="Shape 12"/>
          <p:cNvSpPr/>
          <p:nvPr/>
        </p:nvSpPr>
        <p:spPr>
          <a:xfrm>
            <a:off x="6099048" y="3232404"/>
            <a:ext cx="155448" cy="164592"/>
          </a:xfrm>
          <a:prstGeom prst="chevron">
            <a:avLst/>
          </a:prstGeom>
          <a:solidFill>
            <a:srgbClr val="B58A42"/>
          </a:solidFill>
          <a:ln w="12700">
            <a:solidFill>
              <a:srgbClr val="B58A42"/>
            </a:solidFill>
            <a:prstDash val="solid"/>
          </a:ln>
        </p:spPr>
      </p:sp>
      <p:sp>
        <p:nvSpPr>
          <p:cNvPr id="15" name="Shape 13"/>
          <p:cNvSpPr/>
          <p:nvPr/>
        </p:nvSpPr>
        <p:spPr>
          <a:xfrm>
            <a:off x="6327648" y="2788920"/>
            <a:ext cx="2496312" cy="1051560"/>
          </a:xfrm>
          <a:prstGeom prst="rect">
            <a:avLst/>
          </a:prstGeom>
          <a:solidFill>
            <a:srgbClr val="FFFCF9"/>
          </a:solidFill>
          <a:ln w="9525">
            <a:solidFill>
              <a:srgbClr val="E0D4C0"/>
            </a:solidFill>
            <a:prstDash val="solid"/>
          </a:ln>
        </p:spPr>
      </p:sp>
      <p:sp>
        <p:nvSpPr>
          <p:cNvPr id="16" name="Text 14"/>
          <p:cNvSpPr txBox="1"/>
          <p:nvPr/>
        </p:nvSpPr>
        <p:spPr>
          <a:xfrm>
            <a:off x="6437376" y="2971800"/>
            <a:ext cx="2276856" cy="310896"/>
          </a:xfrm>
          <a:prstGeom prst="rect">
            <a:avLst/>
          </a:prstGeom>
          <a:noFill/>
          <a:ln/>
        </p:spPr>
        <p:txBody>
          <a:bodyPr wrap="square" lIns="0" tIns="0" rIns="0" bIns="0" rtlCol="0" anchor="ctr"/>
          <a:lstStyle/>
          <a:p>
            <a:pPr algn="ctr" indent="0" marL="0">
              <a:buNone/>
            </a:pPr>
            <a:r>
              <a:rPr lang="en-US" sz="1350" b="1" dirty="0">
                <a:solidFill>
                  <a:srgbClr val="111E38"/>
                </a:solidFill>
                <a:latin typeface="Georgia" pitchFamily="34" charset="0"/>
                <a:ea typeface="Georgia" pitchFamily="34" charset="-122"/>
                <a:cs typeface="Georgia" pitchFamily="34" charset="-120"/>
              </a:rPr>
              <a:t>CONTEXTUALIZE</a:t>
            </a:r>
            <a:endParaRPr lang="en-US" sz="1350" dirty="0"/>
          </a:p>
        </p:txBody>
      </p:sp>
      <p:sp>
        <p:nvSpPr>
          <p:cNvPr id="17" name="Text 15"/>
          <p:cNvSpPr txBox="1"/>
          <p:nvPr/>
        </p:nvSpPr>
        <p:spPr>
          <a:xfrm>
            <a:off x="6473952" y="3300984"/>
            <a:ext cx="2203704" cy="457200"/>
          </a:xfrm>
          <a:prstGeom prst="rect">
            <a:avLst/>
          </a:prstGeom>
          <a:noFill/>
          <a:ln/>
        </p:spPr>
        <p:txBody>
          <a:bodyPr wrap="square" lIns="0" tIns="0" rIns="0" bIns="0" rtlCol="0" anchor="t"/>
          <a:lstStyle/>
          <a:p>
            <a:pPr algn="ctr" indent="0" marL="0">
              <a:lnSpc>
                <a:spcPct val="110000"/>
              </a:lnSpc>
              <a:buNone/>
            </a:pPr>
            <a:r>
              <a:rPr lang="en-US" sz="1100" dirty="0">
                <a:solidFill>
                  <a:srgbClr val="4A586E"/>
                </a:solidFill>
                <a:latin typeface="Arial" pitchFamily="34" charset="0"/>
                <a:ea typeface="Arial" pitchFamily="34" charset="-122"/>
                <a:cs typeface="Arial" pitchFamily="34" charset="-120"/>
              </a:rPr>
              <a:t>Framework mapping and intelligence</a:t>
            </a:r>
            <a:endParaRPr lang="en-US" sz="1100" dirty="0"/>
          </a:p>
        </p:txBody>
      </p:sp>
      <p:sp>
        <p:nvSpPr>
          <p:cNvPr id="18" name="Shape 16"/>
          <p:cNvSpPr/>
          <p:nvPr/>
        </p:nvSpPr>
        <p:spPr>
          <a:xfrm>
            <a:off x="8897112" y="3232404"/>
            <a:ext cx="155448" cy="164592"/>
          </a:xfrm>
          <a:prstGeom prst="chevron">
            <a:avLst/>
          </a:prstGeom>
          <a:solidFill>
            <a:srgbClr val="B58A42"/>
          </a:solidFill>
          <a:ln w="12700">
            <a:solidFill>
              <a:srgbClr val="B58A42"/>
            </a:solidFill>
            <a:prstDash val="solid"/>
          </a:ln>
        </p:spPr>
      </p:sp>
      <p:sp>
        <p:nvSpPr>
          <p:cNvPr id="19" name="Shape 17"/>
          <p:cNvSpPr/>
          <p:nvPr/>
        </p:nvSpPr>
        <p:spPr>
          <a:xfrm>
            <a:off x="9125712" y="2788920"/>
            <a:ext cx="2496312" cy="1051560"/>
          </a:xfrm>
          <a:prstGeom prst="rect">
            <a:avLst/>
          </a:prstGeom>
          <a:solidFill>
            <a:srgbClr val="FFFCF9"/>
          </a:solidFill>
          <a:ln w="12700">
            <a:solidFill>
              <a:srgbClr val="B58A42"/>
            </a:solidFill>
            <a:prstDash val="solid"/>
          </a:ln>
        </p:spPr>
      </p:sp>
      <p:sp>
        <p:nvSpPr>
          <p:cNvPr id="20" name="Text 18"/>
          <p:cNvSpPr txBox="1"/>
          <p:nvPr/>
        </p:nvSpPr>
        <p:spPr>
          <a:xfrm>
            <a:off x="9235440" y="2971800"/>
            <a:ext cx="2276856" cy="310896"/>
          </a:xfrm>
          <a:prstGeom prst="rect">
            <a:avLst/>
          </a:prstGeom>
          <a:noFill/>
          <a:ln/>
        </p:spPr>
        <p:txBody>
          <a:bodyPr wrap="square" lIns="0" tIns="0" rIns="0" bIns="0" rtlCol="0" anchor="ctr"/>
          <a:lstStyle/>
          <a:p>
            <a:pPr algn="ctr" indent="0" marL="0">
              <a:buNone/>
            </a:pPr>
            <a:r>
              <a:rPr lang="en-US" sz="1350" b="1" dirty="0">
                <a:solidFill>
                  <a:srgbClr val="111E38"/>
                </a:solidFill>
                <a:latin typeface="Georgia" pitchFamily="34" charset="0"/>
                <a:ea typeface="Georgia" pitchFamily="34" charset="-122"/>
                <a:cs typeface="Georgia" pitchFamily="34" charset="-120"/>
              </a:rPr>
              <a:t>REVIEW</a:t>
            </a:r>
            <a:endParaRPr lang="en-US" sz="1350" dirty="0"/>
          </a:p>
        </p:txBody>
      </p:sp>
      <p:sp>
        <p:nvSpPr>
          <p:cNvPr id="21" name="Text 19"/>
          <p:cNvSpPr txBox="1"/>
          <p:nvPr/>
        </p:nvSpPr>
        <p:spPr>
          <a:xfrm>
            <a:off x="9272016" y="3300984"/>
            <a:ext cx="2203704" cy="457200"/>
          </a:xfrm>
          <a:prstGeom prst="rect">
            <a:avLst/>
          </a:prstGeom>
          <a:noFill/>
          <a:ln/>
        </p:spPr>
        <p:txBody>
          <a:bodyPr wrap="square" lIns="0" tIns="0" rIns="0" bIns="0" rtlCol="0" anchor="t"/>
          <a:lstStyle/>
          <a:p>
            <a:pPr algn="ctr" indent="0" marL="0">
              <a:lnSpc>
                <a:spcPct val="110000"/>
              </a:lnSpc>
              <a:buNone/>
            </a:pPr>
            <a:r>
              <a:rPr lang="en-US" sz="1100" dirty="0">
                <a:solidFill>
                  <a:srgbClr val="4A586E"/>
                </a:solidFill>
                <a:latin typeface="Arial" pitchFamily="34" charset="0"/>
                <a:ea typeface="Arial" pitchFamily="34" charset="-122"/>
                <a:cs typeface="Arial" pitchFamily="34" charset="-120"/>
              </a:rPr>
              <a:t>Confirmed threat or false positive</a:t>
            </a:r>
            <a:endParaRPr lang="en-US" sz="1100" dirty="0"/>
          </a:p>
        </p:txBody>
      </p:sp>
      <p:sp>
        <p:nvSpPr>
          <p:cNvPr id="22" name="Shape 20"/>
          <p:cNvSpPr/>
          <p:nvPr/>
        </p:nvSpPr>
        <p:spPr>
          <a:xfrm>
            <a:off x="731520" y="4114800"/>
            <a:ext cx="10725912" cy="1024128"/>
          </a:xfrm>
          <a:prstGeom prst="rect">
            <a:avLst/>
          </a:prstGeom>
          <a:ln w="9525">
            <a:solidFill>
              <a:srgbClr val="E0D4C0"/>
            </a:solidFill>
            <a:prstDash val="dash"/>
          </a:ln>
        </p:spPr>
      </p:sp>
      <p:sp>
        <p:nvSpPr>
          <p:cNvPr id="23" name="Text 21"/>
          <p:cNvSpPr txBox="1"/>
          <p:nvPr/>
        </p:nvSpPr>
        <p:spPr>
          <a:xfrm>
            <a:off x="1005840" y="4261104"/>
            <a:ext cx="7315200" cy="237744"/>
          </a:xfrm>
          <a:prstGeom prst="rect">
            <a:avLst/>
          </a:prstGeom>
          <a:noFill/>
          <a:ln/>
        </p:spPr>
        <p:txBody>
          <a:bodyPr wrap="square" lIns="0" tIns="0" rIns="0" bIns="0" rtlCol="0" anchor="ctr"/>
          <a:lstStyle/>
          <a:p>
            <a:pPr algn="l" indent="0" marL="0">
              <a:buNone/>
            </a:pPr>
            <a:r>
              <a:rPr lang="en-US" sz="1050" b="1" spc="180" kern="0" dirty="0">
                <a:solidFill>
                  <a:srgbClr val="B58A42"/>
                </a:solidFill>
                <a:latin typeface="Arial" pitchFamily="34" charset="0"/>
                <a:ea typeface="Arial" pitchFamily="34" charset="-122"/>
                <a:cs typeface="Arial" pitchFamily="34" charset="-120"/>
              </a:rPr>
              <a:t>FUTURE EXTENSION — NOT A CURRENT CORE OBJECTIVE</a:t>
            </a:r>
            <a:endParaRPr lang="en-US" sz="1050" dirty="0"/>
          </a:p>
        </p:txBody>
      </p:sp>
      <p:sp>
        <p:nvSpPr>
          <p:cNvPr id="24" name="Text 22"/>
          <p:cNvSpPr txBox="1"/>
          <p:nvPr/>
        </p:nvSpPr>
        <p:spPr>
          <a:xfrm>
            <a:off x="1005840" y="4535424"/>
            <a:ext cx="10177272" cy="548640"/>
          </a:xfrm>
          <a:prstGeom prst="rect">
            <a:avLst/>
          </a:prstGeom>
          <a:noFill/>
          <a:ln/>
        </p:spPr>
        <p:txBody>
          <a:bodyPr wrap="square" lIns="0" tIns="0" rIns="0" bIns="0" rtlCol="0" anchor="t"/>
          <a:lstStyle/>
          <a:p>
            <a:pPr indent="0" marL="0">
              <a:lnSpc>
                <a:spcPct val="112000"/>
              </a:lnSpc>
              <a:buNone/>
            </a:pPr>
            <a:r>
              <a:rPr lang="en-US" sz="1200" dirty="0">
                <a:solidFill>
                  <a:srgbClr val="4A586E"/>
                </a:solidFill>
                <a:latin typeface="Arial" pitchFamily="34" charset="0"/>
                <a:ea typeface="Arial" pitchFamily="34" charset="-122"/>
                <a:cs typeface="Arial" pitchFamily="34" charset="-120"/>
              </a:rPr>
              <a:t>Anomaly-based detection using an Isolation Forest model could later flag statistically unusual traffic that fixed rules were never designed to recognise. This remains optional and sits outside the three objectives defined for this phase.</a:t>
            </a:r>
            <a:endParaRPr lang="en-US" sz="1200" dirty="0"/>
          </a:p>
        </p:txBody>
      </p:sp>
      <p:sp>
        <p:nvSpPr>
          <p:cNvPr id="25" name="Text 23"/>
          <p:cNvSpPr txBox="1"/>
          <p:nvPr/>
        </p:nvSpPr>
        <p:spPr>
          <a:xfrm>
            <a:off x="731520" y="5285232"/>
            <a:ext cx="10725912" cy="256032"/>
          </a:xfrm>
          <a:prstGeom prst="rect">
            <a:avLst/>
          </a:prstGeom>
          <a:noFill/>
          <a:ln/>
        </p:spPr>
        <p:txBody>
          <a:bodyPr wrap="square" lIns="0" tIns="0" rIns="0" bIns="0" rtlCol="0" anchor="ctr"/>
          <a:lstStyle/>
          <a:p>
            <a:pPr algn="ctr" indent="0" marL="0">
              <a:buNone/>
            </a:pPr>
            <a:r>
              <a:rPr lang="en-US" sz="1100" dirty="0">
                <a:solidFill>
                  <a:srgbClr val="B58A42"/>
                </a:solidFill>
                <a:latin typeface="Georgia" pitchFamily="34" charset="0"/>
                <a:ea typeface="Georgia" pitchFamily="34" charset="-122"/>
                <a:cs typeface="Georgia" pitchFamily="34" charset="-120"/>
              </a:rPr>
              <a:t>♦   ♦   ♦</a:t>
            </a:r>
            <a:endParaRPr lang="en-US" sz="1100" dirty="0"/>
          </a:p>
        </p:txBody>
      </p:sp>
      <p:sp>
        <p:nvSpPr>
          <p:cNvPr id="26" name="Text 24"/>
          <p:cNvSpPr txBox="1"/>
          <p:nvPr/>
        </p:nvSpPr>
        <p:spPr>
          <a:xfrm>
            <a:off x="1280160" y="5559552"/>
            <a:ext cx="9628632" cy="457200"/>
          </a:xfrm>
          <a:prstGeom prst="rect">
            <a:avLst/>
          </a:prstGeom>
          <a:noFill/>
          <a:ln/>
        </p:spPr>
        <p:txBody>
          <a:bodyPr wrap="square" lIns="0" tIns="0" rIns="0" bIns="0" rtlCol="0" anchor="ctr"/>
          <a:lstStyle/>
          <a:p>
            <a:pPr algn="ctr" indent="0" marL="0">
              <a:buNone/>
            </a:pPr>
            <a:r>
              <a:rPr lang="en-US" sz="1600" i="1" dirty="0">
                <a:solidFill>
                  <a:srgbClr val="111E38"/>
                </a:solidFill>
                <a:latin typeface="Georgia" pitchFamily="34" charset="0"/>
                <a:ea typeface="Georgia" pitchFamily="34" charset="-122"/>
                <a:cs typeface="Georgia" pitchFamily="34" charset="-120"/>
              </a:rPr>
              <a:t>The aim is to transform overwhelming network traffic into a small set of understandable, actionable security events.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Traffic Analysis &amp; Hybrid Intrusion Detection</dc:title>
  <dc:subject>PptxGenJS Presentation</dc:subject>
  <dc:creator>CPI Project Team</dc:creator>
  <cp:lastModifiedBy>CPI Project Team</cp:lastModifiedBy>
  <cp:revision>1</cp:revision>
  <dcterms:created xsi:type="dcterms:W3CDTF">2026-09-07T20:04:01Z</dcterms:created>
  <dcterms:modified xsi:type="dcterms:W3CDTF">2026-09-07T20:04:01Z</dcterms:modified>
</cp:coreProperties>
</file>